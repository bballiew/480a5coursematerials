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68" r:id="rId3"/>
    <p:sldId id="270" r:id="rId4"/>
    <p:sldId id="271" r:id="rId5"/>
    <p:sldId id="272" r:id="rId6"/>
    <p:sldId id="273" r:id="rId7"/>
    <p:sldId id="262" r:id="rId8"/>
    <p:sldId id="263" r:id="rId9"/>
    <p:sldId id="264" r:id="rId10"/>
    <p:sldId id="265" r:id="rId11"/>
    <p:sldId id="274" r:id="rId12"/>
    <p:sldId id="275" r:id="rId13"/>
    <p:sldId id="277" r:id="rId14"/>
    <p:sldId id="276" r:id="rId15"/>
    <p:sldId id="278" r:id="rId16"/>
    <p:sldId id="279" r:id="rId17"/>
    <p:sldId id="280" r:id="rId18"/>
    <p:sldId id="282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2" name="Shape 4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8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unsky@colostate.ed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.png"/><Relationship Id="rId5" Type="http://schemas.openxmlformats.org/officeDocument/2006/relationships/image" Target="../media/image18.pn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7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244" y="6328440"/>
            <a:ext cx="2116837" cy="433952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pPr algn="l"/>
            <a:r>
              <a:rPr lang="en-US" dirty="0"/>
              <a:t>Module 2 – Basic Probability and Statistics</a:t>
            </a:r>
            <a:endParaRPr dirty="0"/>
          </a:p>
        </p:txBody>
      </p:sp>
      <p:sp>
        <p:nvSpPr>
          <p:cNvPr id="47" name="Rectangle 16"/>
          <p:cNvSpPr txBox="1"/>
          <p:nvPr/>
        </p:nvSpPr>
        <p:spPr>
          <a:xfrm>
            <a:off x="685137" y="2814958"/>
            <a:ext cx="846946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0D5427"/>
                </a:solidFill>
                <a:latin typeface="Arial Nova"/>
                <a:ea typeface="Arial Nova"/>
                <a:cs typeface="Arial Nova"/>
                <a:sym typeface="Arial Nova"/>
              </a:defRPr>
            </a:pPr>
            <a:r>
              <a:rPr dirty="0"/>
              <a:t>Module 2</a:t>
            </a:r>
            <a:r>
              <a:rPr lang="en-US" dirty="0"/>
              <a:t>.</a:t>
            </a:r>
            <a:r>
              <a:rPr dirty="0"/>
              <a:t>A:</a:t>
            </a:r>
            <a:r>
              <a:rPr b="0" dirty="0"/>
              <a:t> Basic Probability and Statistics for Univariate Random Variables</a:t>
            </a:r>
          </a:p>
        </p:txBody>
      </p:sp>
      <p:sp>
        <p:nvSpPr>
          <p:cNvPr id="48" name="Rectangle 19"/>
          <p:cNvSpPr txBox="1"/>
          <p:nvPr/>
        </p:nvSpPr>
        <p:spPr>
          <a:xfrm>
            <a:off x="685136" y="3515648"/>
            <a:ext cx="4257567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b="1">
                <a:solidFill>
                  <a:srgbClr val="0D5427"/>
                </a:solidFill>
                <a:latin typeface="Arial Nova"/>
                <a:ea typeface="Arial Nova"/>
                <a:cs typeface="Arial Nova"/>
                <a:sym typeface="Arial Nova"/>
              </a:defRPr>
            </a:pPr>
            <a:r>
              <a:rPr dirty="0"/>
              <a:t>Instructor:</a:t>
            </a:r>
            <a:r>
              <a:rPr b="0" dirty="0"/>
              <a:t> </a:t>
            </a:r>
            <a:r>
              <a:rPr lang="en-US" dirty="0"/>
              <a:t>Prof. Brian </a:t>
            </a:r>
            <a:r>
              <a:rPr lang="en-US" dirty="0" err="1"/>
              <a:t>Munsky</a:t>
            </a:r>
            <a:endParaRPr dirty="0"/>
          </a:p>
        </p:txBody>
      </p:sp>
      <p:sp>
        <p:nvSpPr>
          <p:cNvPr id="49" name="Rectangle 21"/>
          <p:cNvSpPr txBox="1"/>
          <p:nvPr/>
        </p:nvSpPr>
        <p:spPr>
          <a:xfrm>
            <a:off x="685136" y="3882128"/>
            <a:ext cx="4729040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>
                <a:solidFill>
                  <a:srgbClr val="0D5427"/>
                </a:solidFill>
                <a:latin typeface="Arial Nova"/>
                <a:ea typeface="Arial Nova"/>
                <a:cs typeface="Arial Nova"/>
                <a:sym typeface="Arial Nova"/>
              </a:defRPr>
            </a:pPr>
            <a:r>
              <a:rPr dirty="0"/>
              <a:t>e-mail: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munsky@colostate.edu</a:t>
            </a:r>
            <a:r>
              <a:rPr lang="en-US" dirty="0"/>
              <a:t>   </a:t>
            </a:r>
            <a:endParaRPr b="0" dirty="0"/>
          </a:p>
        </p:txBody>
      </p:sp>
      <p:sp>
        <p:nvSpPr>
          <p:cNvPr id="51" name="Rectangle 19"/>
          <p:cNvSpPr txBox="1"/>
          <p:nvPr/>
        </p:nvSpPr>
        <p:spPr>
          <a:xfrm>
            <a:off x="685136" y="3154679"/>
            <a:ext cx="744987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b="1">
                <a:solidFill>
                  <a:srgbClr val="0D5427"/>
                </a:solidFill>
                <a:latin typeface="Arial Nova"/>
                <a:ea typeface="Arial Nova"/>
                <a:cs typeface="Arial Nova"/>
                <a:sym typeface="Arial Nova"/>
              </a:defRPr>
            </a:pPr>
            <a:r>
              <a:rPr dirty="0"/>
              <a:t>Author:</a:t>
            </a:r>
            <a:r>
              <a:rPr b="0" dirty="0"/>
              <a:t> Dr</a:t>
            </a:r>
            <a:r>
              <a:rPr lang="en-US" b="0" dirty="0"/>
              <a:t>s</a:t>
            </a:r>
            <a:r>
              <a:rPr b="0" dirty="0"/>
              <a:t>. </a:t>
            </a:r>
            <a:r>
              <a:rPr b="0" dirty="0" err="1"/>
              <a:t>Huy</a:t>
            </a:r>
            <a:r>
              <a:rPr b="0" dirty="0"/>
              <a:t> Vo</a:t>
            </a:r>
            <a:r>
              <a:rPr lang="en-US" b="0" dirty="0"/>
              <a:t>, </a:t>
            </a:r>
            <a:r>
              <a:rPr lang="en-US" b="0" dirty="0" err="1"/>
              <a:t>Ania</a:t>
            </a:r>
            <a:r>
              <a:rPr lang="en-US" b="0" dirty="0"/>
              <a:t> </a:t>
            </a:r>
            <a:r>
              <a:rPr lang="en-US" b="0" dirty="0" err="1"/>
              <a:t>Baetica</a:t>
            </a:r>
            <a:r>
              <a:rPr lang="en-US" b="0" dirty="0"/>
              <a:t>, Brian </a:t>
            </a:r>
            <a:r>
              <a:rPr lang="en-US" b="0" dirty="0" err="1"/>
              <a:t>Munsky</a:t>
            </a:r>
            <a:endParaRPr b="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5">
            <a:extLst>
              <a:ext uri="{FF2B5EF4-FFF2-40B4-BE49-F238E27FC236}">
                <a16:creationId xmlns:a16="http://schemas.microsoft.com/office/drawing/2014/main" id="{2FF8AE3E-D9EC-950E-2A6E-C8885C260765}"/>
              </a:ext>
            </a:extLst>
          </p:cNvPr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3" name="Rectangle 15"/>
          <p:cNvSpPr/>
          <p:nvPr/>
        </p:nvSpPr>
        <p:spPr>
          <a:xfrm>
            <a:off x="1" y="-1"/>
            <a:ext cx="9662984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5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Become familiar with the basic meaning of Random Variables and their Probability Distributions.…"/>
          <p:cNvSpPr txBox="1"/>
          <p:nvPr/>
        </p:nvSpPr>
        <p:spPr>
          <a:xfrm>
            <a:off x="815129" y="2204441"/>
            <a:ext cx="10800692" cy="3816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Mathematically define </a:t>
            </a:r>
            <a:r>
              <a:rPr b="1" dirty="0"/>
              <a:t>Random Variables</a:t>
            </a:r>
            <a:r>
              <a:rPr dirty="0"/>
              <a:t> and </a:t>
            </a:r>
            <a:r>
              <a:rPr lang="en-US" dirty="0"/>
              <a:t>their</a:t>
            </a:r>
            <a:r>
              <a:rPr b="1" dirty="0"/>
              <a:t> Probability Distributions</a:t>
            </a:r>
            <a:r>
              <a:rPr dirty="0"/>
              <a:t>.</a:t>
            </a:r>
          </a:p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Recognize and generate common</a:t>
            </a:r>
            <a:r>
              <a:rPr dirty="0"/>
              <a:t> </a:t>
            </a:r>
            <a:r>
              <a:rPr b="1" dirty="0"/>
              <a:t>Discrete Random Variables</a:t>
            </a:r>
            <a:r>
              <a:rPr lang="en-US" dirty="0"/>
              <a:t>, including:</a:t>
            </a:r>
            <a:endParaRPr dirty="0"/>
          </a:p>
          <a:p>
            <a:pPr marL="992605" lvl="2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Bernoulli, Binomial, Poisson, Geometric</a:t>
            </a:r>
            <a:endParaRPr lang="en-US" dirty="0"/>
          </a:p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Recognize and generate common </a:t>
            </a:r>
            <a:r>
              <a:rPr lang="en-US" b="1" dirty="0"/>
              <a:t>Continuous Random Variables</a:t>
            </a:r>
            <a:r>
              <a:rPr lang="en-US" dirty="0"/>
              <a:t>, including:</a:t>
            </a:r>
            <a:endParaRPr lang="en-US" b="1" dirty="0"/>
          </a:p>
          <a:p>
            <a:pPr marL="992605" lvl="2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Uniform, Gaussian, Exponential</a:t>
            </a:r>
          </a:p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b="1" dirty="0"/>
              <a:t>Generate Random Variable Samples</a:t>
            </a:r>
            <a:r>
              <a:rPr lang="en-US" dirty="0"/>
              <a:t> from arbitrary distributions.</a:t>
            </a:r>
          </a:p>
          <a:p>
            <a:pPr marL="230605" indent="-230605" defTabSz="457200">
              <a:spcBef>
                <a:spcPts val="600"/>
              </a:spcBef>
              <a:buSzPct val="100000"/>
              <a:buFontTx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Define </a:t>
            </a:r>
            <a:r>
              <a:rPr lang="en-US" b="1" dirty="0"/>
              <a:t>Expectations of Random Variables</a:t>
            </a:r>
            <a:r>
              <a:rPr lang="en-US" dirty="0"/>
              <a:t> (mean, variance, etc.) and compute these from distributions </a:t>
            </a:r>
          </a:p>
          <a:p>
            <a:pPr marL="230605" indent="-230605" defTabSz="457200">
              <a:spcBef>
                <a:spcPts val="600"/>
              </a:spcBef>
              <a:buSzPct val="100000"/>
              <a:buFontTx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Define </a:t>
            </a:r>
            <a:r>
              <a:rPr lang="en-US" b="1" dirty="0"/>
              <a:t>Summary Statistics </a:t>
            </a:r>
            <a:r>
              <a:rPr lang="en-US" dirty="0"/>
              <a:t>and numerically estimate these from sample data.</a:t>
            </a:r>
          </a:p>
        </p:txBody>
      </p:sp>
      <p:sp>
        <p:nvSpPr>
          <p:cNvPr id="58" name="Learning Objectives for this Notebook"/>
          <p:cNvSpPr txBox="1"/>
          <p:nvPr/>
        </p:nvSpPr>
        <p:spPr>
          <a:xfrm>
            <a:off x="151502" y="615316"/>
            <a:ext cx="6549057" cy="99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dirty="0"/>
              <a:t>Learning Objectives for this Notebook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07D80BBE-A3F4-3579-70A9-90E9EF6EDB0E}"/>
              </a:ext>
            </a:extLst>
          </p:cNvPr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1B1CA5-D3EF-E143-6CEB-E3752D2A5D43}"/>
              </a:ext>
            </a:extLst>
          </p:cNvPr>
          <p:cNvSpPr txBox="1"/>
          <p:nvPr/>
        </p:nvSpPr>
        <p:spPr>
          <a:xfrm>
            <a:off x="151502" y="1318090"/>
            <a:ext cx="9726368" cy="5232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dirty="0">
                <a:latin typeface="Times" pitchFamily="2" charset="0"/>
              </a:rPr>
              <a:t>Upon completing this notebook, you should be able to:</a:t>
            </a:r>
          </a:p>
        </p:txBody>
      </p:sp>
    </p:spTree>
    <p:extLst>
      <p:ext uri="{BB962C8B-B14F-4D97-AF65-F5344CB8AC3E}">
        <p14:creationId xmlns:p14="http://schemas.microsoft.com/office/powerpoint/2010/main" val="132748306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A Random Variable is a quantity whose precise value is uncertain and could therefor take on different values when measured by an experiment.…"/>
              <p:cNvSpPr txBox="1"/>
              <p:nvPr/>
            </p:nvSpPr>
            <p:spPr>
              <a:xfrm>
                <a:off x="790077" y="1211579"/>
                <a:ext cx="10800692" cy="4702857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230605" indent="-230605" defTabSz="457200">
                  <a:spcBef>
                    <a:spcPts val="6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dirty="0"/>
                  <a:t>A </a:t>
                </a:r>
                <a:r>
                  <a:rPr b="1" dirty="0"/>
                  <a:t>Random Variable</a:t>
                </a:r>
                <a:r>
                  <a:rPr dirty="0"/>
                  <a:t> is a quantity whose precise value is </a:t>
                </a:r>
                <a:r>
                  <a:rPr i="1" dirty="0"/>
                  <a:t>uncertain</a:t>
                </a:r>
                <a:r>
                  <a:rPr dirty="0"/>
                  <a:t> and could therefor</a:t>
                </a:r>
                <a:r>
                  <a:rPr lang="en-US" dirty="0"/>
                  <a:t>e</a:t>
                </a:r>
                <a:r>
                  <a:rPr dirty="0"/>
                  <a:t> take on different values when </a:t>
                </a:r>
                <a:r>
                  <a:rPr i="1" dirty="0"/>
                  <a:t>measured by an experiment</a:t>
                </a:r>
                <a:r>
                  <a:rPr dirty="0"/>
                  <a:t>.</a:t>
                </a:r>
              </a:p>
              <a:p>
                <a:pPr marL="611605" lvl="1" indent="-230605" defTabSz="457200">
                  <a:spcBef>
                    <a:spcPts val="6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dirty="0"/>
                  <a:t>The height of the next person you meet.</a:t>
                </a:r>
              </a:p>
              <a:p>
                <a:pPr marL="611605" lvl="1" indent="-230605" defTabSz="457200">
                  <a:spcBef>
                    <a:spcPts val="6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dirty="0"/>
                  <a:t>The number of questions I get at the end of each lecture.</a:t>
                </a:r>
              </a:p>
              <a:p>
                <a:pPr marL="230605" indent="-230605" defTabSz="457200">
                  <a:spcBef>
                    <a:spcPts val="600"/>
                  </a:spcBef>
                  <a:buSzPct val="100000"/>
                  <a:buChar char="•"/>
                  <a:defRPr sz="2300" b="1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dirty="0"/>
                  <a:t>Discrete Random Variables</a:t>
                </a:r>
                <a:r>
                  <a:rPr b="0" dirty="0"/>
                  <a:t> take on discrete numbers or values, e.g.:</a:t>
                </a:r>
              </a:p>
              <a:p>
                <a:pPr marL="611605" lvl="1" indent="-230605" defTabSz="457200">
                  <a:spcBef>
                    <a:spcPts val="600"/>
                  </a:spcBef>
                  <a:buSzPct val="100000"/>
                  <a:buChar char="•"/>
                  <a:defRPr sz="2300" b="1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b="0" dirty="0"/>
                  <a:t>The set of integers {1, 2, 3, 4, 5, 6}.</a:t>
                </a:r>
              </a:p>
              <a:p>
                <a:pPr marL="611605" lvl="1" indent="-230605" defTabSz="457200">
                  <a:spcBef>
                    <a:spcPts val="600"/>
                  </a:spcBef>
                  <a:buSzPct val="100000"/>
                  <a:buChar char="•"/>
                  <a:defRPr sz="2300" b="1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b="0" dirty="0"/>
                  <a:t>The set of words {‘cat’, ‘bird’, ‘dog’, ‘horse’}.</a:t>
                </a:r>
              </a:p>
              <a:p>
                <a:pPr marL="230605" indent="-230605" defTabSz="457200">
                  <a:spcBef>
                    <a:spcPts val="600"/>
                  </a:spcBef>
                  <a:buSzPct val="100000"/>
                  <a:buChar char="•"/>
                  <a:defRPr sz="2300" b="1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dirty="0"/>
                  <a:t>Continuous Random Variables </a:t>
                </a:r>
                <a:r>
                  <a:rPr b="0" dirty="0"/>
                  <a:t>take on real numbers, e.g.:</a:t>
                </a:r>
              </a:p>
              <a:p>
                <a:pPr marL="611605" lvl="1" indent="-230605" defTabSz="457200">
                  <a:spcBef>
                    <a:spcPts val="600"/>
                  </a:spcBef>
                  <a:buSzPct val="100000"/>
                  <a:buChar char="•"/>
                  <a:defRPr sz="2300" b="1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b="0" dirty="0"/>
                  <a:t>The positive numbers, </a:t>
                </a:r>
                <a14:m>
                  <m:oMath xmlns:m="http://schemas.openxmlformats.org/officeDocument/2006/math"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</m:sSub>
                  </m:oMath>
                </a14:m>
                <a:r>
                  <a:rPr b="0" dirty="0"/>
                  <a:t>.</a:t>
                </a:r>
              </a:p>
              <a:p>
                <a:pPr marL="611605" lvl="1" indent="-230605" defTabSz="457200">
                  <a:spcBef>
                    <a:spcPts val="600"/>
                  </a:spcBef>
                  <a:buSzPct val="100000"/>
                  <a:buChar char="•"/>
                  <a:defRPr sz="2300" b="1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b="0" dirty="0"/>
                  <a:t>The complex numbers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b="0" dirty="0"/>
                  <a:t> where </a:t>
                </a:r>
                <a14:m>
                  <m:oMath xmlns:m="http://schemas.openxmlformats.org/officeDocument/2006/math"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𝐱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]∈</m:t>
                    </m:r>
                    <m:sSup>
                      <m:sSup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b="0" dirty="0"/>
                  <a:t>.</a:t>
                </a:r>
              </a:p>
              <a:p>
                <a:pPr marL="230605" indent="-230605" defTabSz="457200">
                  <a:spcBef>
                    <a:spcPts val="600"/>
                  </a:spcBef>
                  <a:buSzPct val="100000"/>
                  <a:buChar char="•"/>
                  <a:defRPr sz="2300" b="1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b="0" dirty="0"/>
                  <a:t>The set of all possible values for a random variable is known as its </a:t>
                </a:r>
                <a:r>
                  <a:rPr b="0" i="1" dirty="0"/>
                  <a:t>Sample Space</a:t>
                </a:r>
                <a:r>
                  <a:rPr b="0" dirty="0"/>
                  <a:t>.</a:t>
                </a:r>
              </a:p>
            </p:txBody>
          </p:sp>
        </mc:Choice>
        <mc:Fallback xmlns="">
          <p:sp>
            <p:nvSpPr>
              <p:cNvPr id="64" name="A Random Variable is a quantity whose precise value is uncertain and could therefor take on different values when measured by an experiment.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077" y="1211579"/>
                <a:ext cx="10800692" cy="4702857"/>
              </a:xfrm>
              <a:prstGeom prst="rect">
                <a:avLst/>
              </a:prstGeom>
              <a:blipFill>
                <a:blip r:embed="rId4"/>
                <a:stretch>
                  <a:fillRect l="-1129" t="-1167" b="-181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What are Random Variables?"/>
          <p:cNvSpPr txBox="1"/>
          <p:nvPr/>
        </p:nvSpPr>
        <p:spPr>
          <a:xfrm>
            <a:off x="151502" y="615316"/>
            <a:ext cx="5095558" cy="993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What are Random Variables?</a:t>
            </a:r>
          </a:p>
        </p:txBody>
      </p:sp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17ECD860-812F-C088-FD0E-935BDBB79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642872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7" name="For Discrete Random Variables, we define the Probability Mass Function,   , which assigns one probability for every possible value of the random variable  .…"/>
              <p:cNvSpPr txBox="1"/>
              <p:nvPr/>
            </p:nvSpPr>
            <p:spPr>
              <a:xfrm>
                <a:off x="673260" y="2053513"/>
                <a:ext cx="7697871" cy="410109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230605" indent="-230605" defTabSz="457200">
                  <a:spcBef>
                    <a:spcPts val="6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For </a:t>
                </a:r>
                <a:r>
                  <a:rPr i="1"/>
                  <a:t>Discrete Random Variables,</a:t>
                </a:r>
                <a:r>
                  <a:rPr b="1" i="1"/>
                  <a:t> </a:t>
                </a:r>
                <a:r>
                  <a:t>we define the </a:t>
                </a:r>
                <a:r>
                  <a:rPr b="1"/>
                  <a:t>Probability Mass Function,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, which assigns one probability for every possible value of the random variable </a:t>
                </a:r>
                <a14:m>
                  <m:oMath xmlns:m="http://schemas.openxmlformats.org/officeDocument/2006/math"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t>.</a:t>
                </a:r>
              </a:p>
              <a:p>
                <a:pPr marL="230605" indent="-230605" defTabSz="457200">
                  <a:spcBef>
                    <a:spcPts val="45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For </a:t>
                </a:r>
                <a:r>
                  <a:rPr i="1"/>
                  <a:t>Continuous Random Variables,</a:t>
                </a:r>
                <a:r>
                  <a:rPr b="1" i="1"/>
                  <a:t> </a:t>
                </a:r>
                <a:r>
                  <a:t>we define the </a:t>
                </a:r>
                <a:r>
                  <a:rPr b="1"/>
                  <a:t>Probability Density Function, </a:t>
                </a:r>
                <a:r>
                  <a:t>which is a differential</a:t>
                </a:r>
                <a:r>
                  <a:rPr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t> that can assign a probability to the infinitesimal region </a:t>
                </a:r>
                <a14:m>
                  <m:oMath xmlns:m="http://schemas.openxmlformats.org/officeDocument/2006/math"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𝑑𝑥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t> for every value of the random variable </a:t>
                </a:r>
                <a14:m>
                  <m:oMath xmlns:m="http://schemas.openxmlformats.org/officeDocument/2006/math">
                    <m:r>
                      <a:rPr sz="2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t>.</a:t>
                </a:r>
              </a:p>
            </p:txBody>
          </p:sp>
        </mc:Choice>
        <mc:Fallback xmlns="">
          <p:sp>
            <p:nvSpPr>
              <p:cNvPr id="67" name="For Discrete Random Variables, we define the Probability Mass Function,   , which assigns one probability for every possible value of the random variable  .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260" y="2053513"/>
                <a:ext cx="7697871" cy="4101091"/>
              </a:xfrm>
              <a:prstGeom prst="rect">
                <a:avLst/>
              </a:prstGeom>
              <a:blipFill>
                <a:blip r:embed="rId2"/>
                <a:stretch>
                  <a:fillRect l="-1504" t="-1337" r="-19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9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71" name="A Probability Distribution quantifies the probability that a random variable will take every possible value in its sample space."/>
          <p:cNvSpPr txBox="1"/>
          <p:nvPr/>
        </p:nvSpPr>
        <p:spPr>
          <a:xfrm>
            <a:off x="326601" y="1213765"/>
            <a:ext cx="10800692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A </a:t>
            </a:r>
            <a:r>
              <a:rPr b="1" dirty="0"/>
              <a:t>Probability Distribution</a:t>
            </a:r>
            <a:r>
              <a:rPr dirty="0"/>
              <a:t> quantifies the probability that a random variable will take</a:t>
            </a:r>
            <a:r>
              <a:rPr lang="en-US" dirty="0"/>
              <a:t> for</a:t>
            </a:r>
            <a:r>
              <a:rPr dirty="0"/>
              <a:t> every possible value in its sample space.</a:t>
            </a:r>
          </a:p>
        </p:txBody>
      </p:sp>
      <p:sp>
        <p:nvSpPr>
          <p:cNvPr id="72" name="Probability Distributions"/>
          <p:cNvSpPr txBox="1"/>
          <p:nvPr/>
        </p:nvSpPr>
        <p:spPr>
          <a:xfrm>
            <a:off x="151502" y="615316"/>
            <a:ext cx="4308158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Probability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Equation"/>
              <p:cNvSpPr txBox="1"/>
              <p:nvPr/>
            </p:nvSpPr>
            <p:spPr>
              <a:xfrm>
                <a:off x="3413485" y="3229613"/>
                <a:ext cx="2735921" cy="34233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d>
                        <m:d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sz="2900" dirty="0"/>
              </a:p>
            </p:txBody>
          </p:sp>
        </mc:Choice>
        <mc:Fallback xmlns="">
          <p:sp>
            <p:nvSpPr>
              <p:cNvPr id="7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485" y="3229613"/>
                <a:ext cx="2735921" cy="342336"/>
              </a:xfrm>
              <a:prstGeom prst="rect">
                <a:avLst/>
              </a:prstGeom>
              <a:blipFill>
                <a:blip r:embed="rId3"/>
                <a:stretch>
                  <a:fillRect l="-4608" r="-8756" b="-6785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Equation"/>
              <p:cNvSpPr txBox="1"/>
              <p:nvPr/>
            </p:nvSpPr>
            <p:spPr>
              <a:xfrm>
                <a:off x="3308160" y="5261445"/>
                <a:ext cx="3810442" cy="88262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∫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bSup>
                      <m:sSub>
                        <m:sSubPr>
                          <m:ctrlP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2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dx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Pr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sz="2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sz="2600" dirty="0"/>
              </a:p>
            </p:txBody>
          </p:sp>
        </mc:Choice>
        <mc:Fallback xmlns="">
          <p:sp>
            <p:nvSpPr>
              <p:cNvPr id="7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160" y="5261445"/>
                <a:ext cx="3810442" cy="882622"/>
              </a:xfrm>
              <a:prstGeom prst="rect">
                <a:avLst/>
              </a:prstGeom>
              <a:blipFill>
                <a:blip r:embed="rId4"/>
                <a:stretch>
                  <a:fillRect l="-4651" t="-1429" r="-963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Line"/>
          <p:cNvSpPr/>
          <p:nvPr/>
        </p:nvSpPr>
        <p:spPr>
          <a:xfrm>
            <a:off x="9181684" y="3617442"/>
            <a:ext cx="2735921" cy="1"/>
          </a:xfrm>
          <a:prstGeom prst="line">
            <a:avLst/>
          </a:prstGeom>
          <a:ln w="635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" name="Line"/>
          <p:cNvSpPr/>
          <p:nvPr/>
        </p:nvSpPr>
        <p:spPr>
          <a:xfrm flipV="1">
            <a:off x="9206909" y="2053513"/>
            <a:ext cx="1" cy="1563930"/>
          </a:xfrm>
          <a:prstGeom prst="line">
            <a:avLst/>
          </a:prstGeom>
          <a:ln w="635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Equation"/>
              <p:cNvSpPr txBox="1"/>
              <p:nvPr/>
            </p:nvSpPr>
            <p:spPr>
              <a:xfrm>
                <a:off x="11294409" y="3703681"/>
                <a:ext cx="257049" cy="25146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7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409" y="3703681"/>
                <a:ext cx="257049" cy="251461"/>
              </a:xfrm>
              <a:prstGeom prst="rect">
                <a:avLst/>
              </a:prstGeom>
              <a:blipFill>
                <a:blip r:embed="rId6"/>
                <a:stretch>
                  <a:fillRect r="-23810" b="-11219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Equation"/>
              <p:cNvSpPr txBox="1"/>
              <p:nvPr/>
            </p:nvSpPr>
            <p:spPr>
              <a:xfrm>
                <a:off x="8246013" y="2664954"/>
                <a:ext cx="778365" cy="34104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900" dirty="0"/>
              </a:p>
            </p:txBody>
          </p:sp>
        </mc:Choice>
        <mc:Fallback xmlns="">
          <p:sp>
            <p:nvSpPr>
              <p:cNvPr id="78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013" y="2664954"/>
                <a:ext cx="778365" cy="341047"/>
              </a:xfrm>
              <a:prstGeom prst="rect">
                <a:avLst/>
              </a:prstGeom>
              <a:blipFill>
                <a:blip r:embed="rId7"/>
                <a:stretch>
                  <a:fillRect l="-17742" r="-38710" b="-6785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Rectangle"/>
          <p:cNvSpPr/>
          <p:nvPr/>
        </p:nvSpPr>
        <p:spPr>
          <a:xfrm>
            <a:off x="9476051" y="3092462"/>
            <a:ext cx="246381" cy="548641"/>
          </a:xfrm>
          <a:prstGeom prst="rect">
            <a:avLst/>
          </a:prstGeom>
          <a:solidFill>
            <a:schemeClr val="accent6">
              <a:lumOff val="-9568"/>
            </a:schemeClr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0" name="Rectangle"/>
          <p:cNvSpPr/>
          <p:nvPr/>
        </p:nvSpPr>
        <p:spPr>
          <a:xfrm>
            <a:off x="9930276" y="2834733"/>
            <a:ext cx="246381" cy="806370"/>
          </a:xfrm>
          <a:prstGeom prst="rect">
            <a:avLst/>
          </a:prstGeom>
          <a:solidFill>
            <a:schemeClr val="accent6">
              <a:lumOff val="-9568"/>
            </a:schemeClr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1" name="Rectangle"/>
          <p:cNvSpPr/>
          <p:nvPr/>
        </p:nvSpPr>
        <p:spPr>
          <a:xfrm>
            <a:off x="10384503" y="3092462"/>
            <a:ext cx="246381" cy="548641"/>
          </a:xfrm>
          <a:prstGeom prst="rect">
            <a:avLst/>
          </a:prstGeom>
          <a:solidFill>
            <a:schemeClr val="accent6">
              <a:lumOff val="-9568"/>
            </a:schemeClr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2" name="Rectangle"/>
          <p:cNvSpPr/>
          <p:nvPr/>
        </p:nvSpPr>
        <p:spPr>
          <a:xfrm>
            <a:off x="10838729" y="3311467"/>
            <a:ext cx="246381" cy="329636"/>
          </a:xfrm>
          <a:prstGeom prst="rect">
            <a:avLst/>
          </a:prstGeom>
          <a:solidFill>
            <a:schemeClr val="accent6">
              <a:lumOff val="-9568"/>
            </a:schemeClr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83" name="Line"/>
          <p:cNvSpPr/>
          <p:nvPr/>
        </p:nvSpPr>
        <p:spPr>
          <a:xfrm>
            <a:off x="9110092" y="5919916"/>
            <a:ext cx="2735921" cy="1"/>
          </a:xfrm>
          <a:prstGeom prst="line">
            <a:avLst/>
          </a:prstGeom>
          <a:ln w="635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4" name="Line"/>
          <p:cNvSpPr/>
          <p:nvPr/>
        </p:nvSpPr>
        <p:spPr>
          <a:xfrm flipV="1">
            <a:off x="9135318" y="4355987"/>
            <a:ext cx="1" cy="1563930"/>
          </a:xfrm>
          <a:prstGeom prst="line">
            <a:avLst/>
          </a:prstGeom>
          <a:ln w="635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Equation"/>
              <p:cNvSpPr txBox="1"/>
              <p:nvPr/>
            </p:nvSpPr>
            <p:spPr>
              <a:xfrm>
                <a:off x="11222818" y="6006155"/>
                <a:ext cx="264872" cy="25257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8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2818" y="6006155"/>
                <a:ext cx="264872" cy="252579"/>
              </a:xfrm>
              <a:prstGeom prst="rect">
                <a:avLst/>
              </a:prstGeom>
              <a:blipFill>
                <a:blip r:embed="rId8"/>
                <a:stretch>
                  <a:fillRect r="-11628" b="-10714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Equation"/>
              <p:cNvSpPr txBox="1"/>
              <p:nvPr/>
            </p:nvSpPr>
            <p:spPr>
              <a:xfrm>
                <a:off x="8223850" y="4967428"/>
                <a:ext cx="721647" cy="34178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900" dirty="0"/>
              </a:p>
            </p:txBody>
          </p:sp>
        </mc:Choice>
        <mc:Fallback xmlns="">
          <p:sp>
            <p:nvSpPr>
              <p:cNvPr id="8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850" y="4967428"/>
                <a:ext cx="721647" cy="341784"/>
              </a:xfrm>
              <a:prstGeom prst="rect">
                <a:avLst/>
              </a:prstGeom>
              <a:blipFill>
                <a:blip r:embed="rId9"/>
                <a:stretch>
                  <a:fillRect l="-22414" r="-43103" b="-6785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Line"/>
          <p:cNvSpPr/>
          <p:nvPr/>
        </p:nvSpPr>
        <p:spPr>
          <a:xfrm>
            <a:off x="9154960" y="4894280"/>
            <a:ext cx="2444398" cy="10235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998" extrusionOk="0">
                <a:moveTo>
                  <a:pt x="0" y="20943"/>
                </a:moveTo>
                <a:cubicBezTo>
                  <a:pt x="1377" y="21212"/>
                  <a:pt x="2755" y="20473"/>
                  <a:pt x="3942" y="18830"/>
                </a:cubicBezTo>
                <a:cubicBezTo>
                  <a:pt x="5255" y="17012"/>
                  <a:pt x="6254" y="14205"/>
                  <a:pt x="6830" y="10918"/>
                </a:cubicBezTo>
                <a:cubicBezTo>
                  <a:pt x="7272" y="8400"/>
                  <a:pt x="7453" y="5655"/>
                  <a:pt x="7995" y="3241"/>
                </a:cubicBezTo>
                <a:cubicBezTo>
                  <a:pt x="8439" y="1262"/>
                  <a:pt x="9211" y="-388"/>
                  <a:pt x="10102" y="80"/>
                </a:cubicBezTo>
                <a:cubicBezTo>
                  <a:pt x="10932" y="516"/>
                  <a:pt x="11298" y="2558"/>
                  <a:pt x="11609" y="4436"/>
                </a:cubicBezTo>
                <a:cubicBezTo>
                  <a:pt x="12032" y="6991"/>
                  <a:pt x="12542" y="9489"/>
                  <a:pt x="13312" y="11562"/>
                </a:cubicBezTo>
                <a:cubicBezTo>
                  <a:pt x="14115" y="13722"/>
                  <a:pt x="15155" y="15298"/>
                  <a:pt x="16246" y="16606"/>
                </a:cubicBezTo>
                <a:cubicBezTo>
                  <a:pt x="17399" y="17989"/>
                  <a:pt x="18612" y="19084"/>
                  <a:pt x="19865" y="19870"/>
                </a:cubicBezTo>
                <a:lnTo>
                  <a:pt x="21600" y="20779"/>
                </a:lnTo>
              </a:path>
            </a:pathLst>
          </a:custGeom>
          <a:ln w="63500">
            <a:solidFill>
              <a:schemeClr val="accent6">
                <a:lumOff val="-9568"/>
              </a:scheme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8" name="All PMFs (PDFs) are always non-negative and sum (integrate) to one."/>
          <p:cNvSpPr txBox="1"/>
          <p:nvPr/>
        </p:nvSpPr>
        <p:spPr>
          <a:xfrm>
            <a:off x="366528" y="6234369"/>
            <a:ext cx="8520107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marL="230605" indent="-230605" defTabSz="457200">
              <a:spcBef>
                <a:spcPts val="82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All PMFs (PDFs) are always non-negative and sum (integrate) to one.</a:t>
            </a:r>
          </a:p>
        </p:txBody>
      </p:sp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2CF7D81B-4381-E2A8-C79B-0594191786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57121292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0" name="For Discrete Random Variables, the cumulative distribution is the sum of   from   to the value of interest:…"/>
              <p:cNvSpPr txBox="1"/>
              <p:nvPr/>
            </p:nvSpPr>
            <p:spPr>
              <a:xfrm>
                <a:off x="578068" y="1929052"/>
                <a:ext cx="7847936" cy="46721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230605" indent="-230605" defTabSz="457200">
                  <a:spcBef>
                    <a:spcPts val="6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For </a:t>
                </a:r>
                <a:r>
                  <a:rPr i="1"/>
                  <a:t>Discrete Random Variables,</a:t>
                </a:r>
                <a:r>
                  <a:rPr b="1" i="1"/>
                  <a:t> </a:t>
                </a:r>
                <a:r>
                  <a:t>the cumulative distribution is the sum of</a:t>
                </a:r>
                <a:r>
                  <a:rPr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from </a:t>
                </a:r>
                <a14:m>
                  <m:oMath xmlns:m="http://schemas.openxmlformats.org/officeDocument/2006/math"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=−∞</m:t>
                    </m:r>
                  </m:oMath>
                </a14:m>
                <a:r>
                  <a:t> to the value of interest:</a:t>
                </a:r>
              </a:p>
              <a:p>
                <a:pPr marL="230605" indent="-230605" defTabSz="457200">
                  <a:spcBef>
                    <a:spcPts val="110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For </a:t>
                </a:r>
                <a:r>
                  <a:rPr i="1"/>
                  <a:t>Continuous Random Variables,</a:t>
                </a:r>
                <a:r>
                  <a:rPr b="1" i="1"/>
                  <a:t> </a:t>
                </a:r>
                <a:r>
                  <a:t>the cumulative distribution is the integral of</a:t>
                </a:r>
                <a:r>
                  <a:rPr b="1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sz="23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sz="2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from </a:t>
                </a:r>
                <a14:m>
                  <m:oMath xmlns:m="http://schemas.openxmlformats.org/officeDocument/2006/math"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=−∞</m:t>
                    </m:r>
                  </m:oMath>
                </a14:m>
                <a:r>
                  <a:t> to the value of interest:</a:t>
                </a:r>
              </a:p>
            </p:txBody>
          </p:sp>
        </mc:Choice>
        <mc:Fallback xmlns="">
          <p:sp>
            <p:nvSpPr>
              <p:cNvPr id="90" name="For Discrete Random Variables, the cumulative distribution is the sum of   from   to the value of interest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68" y="1929052"/>
                <a:ext cx="7847936" cy="4672181"/>
              </a:xfrm>
              <a:prstGeom prst="rect">
                <a:avLst/>
              </a:prstGeom>
              <a:blipFill>
                <a:blip r:embed="rId2"/>
                <a:stretch>
                  <a:fillRect l="-1554" t="-1043" r="-7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94" name="A Cumulative Probability Distribution quantifies the probability that a random variable will take a value less than or equal to a given amount."/>
          <p:cNvSpPr txBox="1"/>
          <p:nvPr/>
        </p:nvSpPr>
        <p:spPr>
          <a:xfrm>
            <a:off x="249355" y="1182302"/>
            <a:ext cx="10800692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</a:t>
            </a:r>
            <a:r>
              <a:rPr b="1"/>
              <a:t>Cumulative</a:t>
            </a:r>
            <a:r>
              <a:t> </a:t>
            </a:r>
            <a:r>
              <a:rPr b="1"/>
              <a:t>Probability Distribution</a:t>
            </a:r>
            <a:r>
              <a:t> quantifies the probability that a random variable will take a value less than or equal to a given amount.</a:t>
            </a:r>
          </a:p>
        </p:txBody>
      </p:sp>
      <p:sp>
        <p:nvSpPr>
          <p:cNvPr id="95" name="Cumulative Probability Distributions"/>
          <p:cNvSpPr txBox="1"/>
          <p:nvPr/>
        </p:nvSpPr>
        <p:spPr>
          <a:xfrm>
            <a:off x="151502" y="615316"/>
            <a:ext cx="6375083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Cumulative Probability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Equation"/>
              <p:cNvSpPr txBox="1"/>
              <p:nvPr/>
            </p:nvSpPr>
            <p:spPr>
              <a:xfrm>
                <a:off x="3362674" y="2768357"/>
                <a:ext cx="2805407" cy="98741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limUpp>
                        <m:limUpp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limLow>
                            <m:limLowPr>
                              <m:ctrlP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lim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=−∞</m:t>
                              </m:r>
                            </m:lim>
                          </m:limLow>
                        </m:e>
                        <m:lim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Upp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900"/>
              </a:p>
            </p:txBody>
          </p:sp>
        </mc:Choice>
        <mc:Fallback xmlns="">
          <p:sp>
            <p:nvSpPr>
              <p:cNvPr id="9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674" y="2768357"/>
                <a:ext cx="2805407" cy="987414"/>
              </a:xfrm>
              <a:prstGeom prst="rect">
                <a:avLst/>
              </a:prstGeom>
              <a:blipFill>
                <a:blip r:embed="rId4"/>
                <a:stretch>
                  <a:fillRect r="-1021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Equation"/>
              <p:cNvSpPr txBox="1"/>
              <p:nvPr/>
            </p:nvSpPr>
            <p:spPr>
              <a:xfrm>
                <a:off x="3272223" y="4906615"/>
                <a:ext cx="3295293" cy="101330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∫</m:t>
                          </m:r>
                        </m:e>
                        <m:sub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bSup>
                      <m:sSub>
                        <m:sSub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dx</m:t>
                      </m:r>
                    </m:oMath>
                  </m:oMathPara>
                </a14:m>
                <a:endParaRPr sz="3200"/>
              </a:p>
            </p:txBody>
          </p:sp>
        </mc:Choice>
        <mc:Fallback xmlns="">
          <p:sp>
            <p:nvSpPr>
              <p:cNvPr id="97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2223" y="4906615"/>
                <a:ext cx="3295293" cy="1013302"/>
              </a:xfrm>
              <a:prstGeom prst="rect">
                <a:avLst/>
              </a:prstGeom>
              <a:blipFill>
                <a:blip r:embed="rId5"/>
                <a:stretch>
                  <a:fillRect r="-1055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Line"/>
          <p:cNvSpPr/>
          <p:nvPr/>
        </p:nvSpPr>
        <p:spPr>
          <a:xfrm>
            <a:off x="9181684" y="3617442"/>
            <a:ext cx="2735921" cy="1"/>
          </a:xfrm>
          <a:prstGeom prst="line">
            <a:avLst/>
          </a:prstGeom>
          <a:ln w="635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" name="Line"/>
          <p:cNvSpPr/>
          <p:nvPr/>
        </p:nvSpPr>
        <p:spPr>
          <a:xfrm flipV="1">
            <a:off x="9206909" y="1751764"/>
            <a:ext cx="1" cy="1865679"/>
          </a:xfrm>
          <a:prstGeom prst="line">
            <a:avLst/>
          </a:prstGeom>
          <a:ln w="635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Equation"/>
              <p:cNvSpPr txBox="1"/>
              <p:nvPr/>
            </p:nvSpPr>
            <p:spPr>
              <a:xfrm>
                <a:off x="11294409" y="3703681"/>
                <a:ext cx="256490" cy="25257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10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4409" y="3703681"/>
                <a:ext cx="256490" cy="252579"/>
              </a:xfrm>
              <a:prstGeom prst="rect">
                <a:avLst/>
              </a:prstGeom>
              <a:blipFill>
                <a:blip r:embed="rId6"/>
                <a:stretch>
                  <a:fillRect r="-19048" b="-11219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Equation"/>
              <p:cNvSpPr txBox="1"/>
              <p:nvPr/>
            </p:nvSpPr>
            <p:spPr>
              <a:xfrm>
                <a:off x="8332512" y="2664954"/>
                <a:ext cx="787204" cy="34104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900"/>
              </a:p>
            </p:txBody>
          </p:sp>
        </mc:Choice>
        <mc:Fallback xmlns="">
          <p:sp>
            <p:nvSpPr>
              <p:cNvPr id="10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2512" y="2664954"/>
                <a:ext cx="787204" cy="341047"/>
              </a:xfrm>
              <a:prstGeom prst="rect">
                <a:avLst/>
              </a:prstGeom>
              <a:blipFill>
                <a:blip r:embed="rId7"/>
                <a:stretch>
                  <a:fillRect r="-11628" b="-2678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Line"/>
          <p:cNvSpPr/>
          <p:nvPr/>
        </p:nvSpPr>
        <p:spPr>
          <a:xfrm>
            <a:off x="9110092" y="5919916"/>
            <a:ext cx="2735921" cy="1"/>
          </a:xfrm>
          <a:prstGeom prst="line">
            <a:avLst/>
          </a:prstGeom>
          <a:ln w="635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" name="Line"/>
          <p:cNvSpPr/>
          <p:nvPr/>
        </p:nvSpPr>
        <p:spPr>
          <a:xfrm flipV="1">
            <a:off x="9135318" y="4178084"/>
            <a:ext cx="1" cy="1741833"/>
          </a:xfrm>
          <a:prstGeom prst="line">
            <a:avLst/>
          </a:prstGeom>
          <a:ln w="635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Equation"/>
              <p:cNvSpPr txBox="1"/>
              <p:nvPr/>
            </p:nvSpPr>
            <p:spPr>
              <a:xfrm>
                <a:off x="11222818" y="6006155"/>
                <a:ext cx="256490" cy="25257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sz="4400"/>
              </a:p>
            </p:txBody>
          </p:sp>
        </mc:Choice>
        <mc:Fallback xmlns="">
          <p:sp>
            <p:nvSpPr>
              <p:cNvPr id="10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2818" y="6006155"/>
                <a:ext cx="256490" cy="252579"/>
              </a:xfrm>
              <a:prstGeom prst="rect">
                <a:avLst/>
              </a:prstGeom>
              <a:blipFill>
                <a:blip r:embed="rId8"/>
                <a:stretch>
                  <a:fillRect r="-21429" b="-107143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Equation"/>
              <p:cNvSpPr txBox="1"/>
              <p:nvPr/>
            </p:nvSpPr>
            <p:spPr>
              <a:xfrm>
                <a:off x="8260921" y="4967428"/>
                <a:ext cx="787204" cy="34104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900"/>
              </a:p>
            </p:txBody>
          </p:sp>
        </mc:Choice>
        <mc:Fallback xmlns="">
          <p:sp>
            <p:nvSpPr>
              <p:cNvPr id="105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921" y="4967428"/>
                <a:ext cx="787204" cy="341047"/>
              </a:xfrm>
              <a:prstGeom prst="rect">
                <a:avLst/>
              </a:prstGeom>
              <a:blipFill>
                <a:blip r:embed="rId9"/>
                <a:stretch>
                  <a:fillRect r="-11628" b="-2678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Line"/>
          <p:cNvSpPr/>
          <p:nvPr/>
        </p:nvSpPr>
        <p:spPr>
          <a:xfrm>
            <a:off x="9231524" y="2117446"/>
            <a:ext cx="2045419" cy="15248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3161" y="21398"/>
                </a:lnTo>
                <a:lnTo>
                  <a:pt x="3162" y="15888"/>
                </a:lnTo>
                <a:lnTo>
                  <a:pt x="7261" y="15826"/>
                </a:lnTo>
                <a:lnTo>
                  <a:pt x="7367" y="7660"/>
                </a:lnTo>
                <a:lnTo>
                  <a:pt x="11302" y="7638"/>
                </a:lnTo>
                <a:lnTo>
                  <a:pt x="11302" y="4630"/>
                </a:lnTo>
                <a:lnTo>
                  <a:pt x="14751" y="4624"/>
                </a:lnTo>
                <a:lnTo>
                  <a:pt x="14694" y="2175"/>
                </a:lnTo>
                <a:lnTo>
                  <a:pt x="17947" y="2111"/>
                </a:lnTo>
                <a:lnTo>
                  <a:pt x="17801" y="18"/>
                </a:lnTo>
                <a:lnTo>
                  <a:pt x="21600" y="0"/>
                </a:lnTo>
              </a:path>
            </a:pathLst>
          </a:custGeom>
          <a:ln w="63500">
            <a:solidFill>
              <a:schemeClr val="accent6">
                <a:lumOff val="-9568"/>
              </a:scheme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7" name="Line"/>
          <p:cNvSpPr/>
          <p:nvPr/>
        </p:nvSpPr>
        <p:spPr>
          <a:xfrm>
            <a:off x="9181346" y="4488565"/>
            <a:ext cx="2518053" cy="14350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79" extrusionOk="0">
                <a:moveTo>
                  <a:pt x="0" y="21450"/>
                </a:moveTo>
                <a:cubicBezTo>
                  <a:pt x="1242" y="21600"/>
                  <a:pt x="2484" y="21177"/>
                  <a:pt x="3603" y="20223"/>
                </a:cubicBezTo>
                <a:cubicBezTo>
                  <a:pt x="4582" y="19388"/>
                  <a:pt x="5433" y="18174"/>
                  <a:pt x="6198" y="16821"/>
                </a:cubicBezTo>
                <a:cubicBezTo>
                  <a:pt x="6937" y="15513"/>
                  <a:pt x="7599" y="14073"/>
                  <a:pt x="8109" y="12466"/>
                </a:cubicBezTo>
                <a:cubicBezTo>
                  <a:pt x="8559" y="11049"/>
                  <a:pt x="8885" y="9515"/>
                  <a:pt x="9399" y="8164"/>
                </a:cubicBezTo>
                <a:cubicBezTo>
                  <a:pt x="9838" y="7010"/>
                  <a:pt x="10401" y="6022"/>
                  <a:pt x="11021" y="5160"/>
                </a:cubicBezTo>
                <a:cubicBezTo>
                  <a:pt x="11738" y="4165"/>
                  <a:pt x="12527" y="3343"/>
                  <a:pt x="13348" y="2633"/>
                </a:cubicBezTo>
                <a:cubicBezTo>
                  <a:pt x="14226" y="1872"/>
                  <a:pt x="15142" y="1239"/>
                  <a:pt x="16100" y="864"/>
                </a:cubicBezTo>
                <a:cubicBezTo>
                  <a:pt x="16970" y="524"/>
                  <a:pt x="17860" y="403"/>
                  <a:pt x="18749" y="296"/>
                </a:cubicBezTo>
                <a:cubicBezTo>
                  <a:pt x="19699" y="182"/>
                  <a:pt x="20649" y="83"/>
                  <a:pt x="21600" y="0"/>
                </a:cubicBezTo>
              </a:path>
            </a:pathLst>
          </a:custGeom>
          <a:ln w="63500">
            <a:solidFill>
              <a:schemeClr val="accent6">
                <a:lumOff val="-9568"/>
              </a:schemeClr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8" name="0"/>
          <p:cNvSpPr txBox="1"/>
          <p:nvPr/>
        </p:nvSpPr>
        <p:spPr>
          <a:xfrm>
            <a:off x="8842136" y="3425499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t>0</a:t>
            </a:r>
          </a:p>
        </p:txBody>
      </p:sp>
      <p:sp>
        <p:nvSpPr>
          <p:cNvPr id="109" name="1"/>
          <p:cNvSpPr txBox="1"/>
          <p:nvPr/>
        </p:nvSpPr>
        <p:spPr>
          <a:xfrm>
            <a:off x="8842136" y="1883569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t>1</a:t>
            </a:r>
          </a:p>
        </p:txBody>
      </p:sp>
      <p:sp>
        <p:nvSpPr>
          <p:cNvPr id="110" name="0"/>
          <p:cNvSpPr txBox="1"/>
          <p:nvPr/>
        </p:nvSpPr>
        <p:spPr>
          <a:xfrm>
            <a:off x="8842136" y="5742373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t>0</a:t>
            </a:r>
          </a:p>
        </p:txBody>
      </p:sp>
      <p:sp>
        <p:nvSpPr>
          <p:cNvPr id="111" name="1"/>
          <p:cNvSpPr txBox="1"/>
          <p:nvPr/>
        </p:nvSpPr>
        <p:spPr>
          <a:xfrm>
            <a:off x="8842136" y="4263943"/>
            <a:ext cx="220003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Cumulative distributions increase monotonically from zero as   to one as  ."/>
              <p:cNvSpPr txBox="1"/>
              <p:nvPr/>
            </p:nvSpPr>
            <p:spPr>
              <a:xfrm>
                <a:off x="181632" y="6284683"/>
                <a:ext cx="11828735" cy="45141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230605" indent="-230605" defTabSz="457200">
                  <a:spcBef>
                    <a:spcPts val="91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Cumulative distributions increase monotonically from zero as </a:t>
                </a:r>
                <a14:m>
                  <m:oMath xmlns:m="http://schemas.openxmlformats.org/officeDocument/2006/math"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→−∞</m:t>
                    </m:r>
                  </m:oMath>
                </a14:m>
                <a:r>
                  <a:t> to one as </a:t>
                </a:r>
                <a14:m>
                  <m:oMath xmlns:m="http://schemas.openxmlformats.org/officeDocument/2006/math"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t>.</a:t>
                </a:r>
              </a:p>
            </p:txBody>
          </p:sp>
        </mc:Choice>
        <mc:Fallback xmlns="">
          <p:sp>
            <p:nvSpPr>
              <p:cNvPr id="112" name="Cumulative distributions increase monotonically from zero as   to one as  .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632" y="6284683"/>
                <a:ext cx="11828735" cy="451411"/>
              </a:xfrm>
              <a:prstGeom prst="rect">
                <a:avLst/>
              </a:prstGeom>
              <a:blipFill>
                <a:blip r:embed="rId10"/>
                <a:stretch>
                  <a:fillRect l="-1031" t="-8108" b="-3108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37898405-49F9-D2EC-9ACD-0AEBB40CC2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4363620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he expected value (mean) of a discrete random variable is:…"/>
          <p:cNvSpPr txBox="1"/>
          <p:nvPr/>
        </p:nvSpPr>
        <p:spPr>
          <a:xfrm>
            <a:off x="281958" y="2106852"/>
            <a:ext cx="11347398" cy="6085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expected value (mean) of a discrete random variable is: </a:t>
            </a:r>
          </a:p>
          <a:p>
            <a:pPr marL="230605" indent="-230605" defTabSz="457200">
              <a:spcBef>
                <a:spcPts val="69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expected value (mean) of a continuous random variable is: </a:t>
            </a:r>
          </a:p>
          <a:p>
            <a:pPr marL="230605" indent="-230605" defTabSz="457200">
              <a:spcBef>
                <a:spcPts val="54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 can also take the expected value of the squared </a:t>
            </a:r>
            <a:r>
              <a:rPr b="1" i="1"/>
              <a:t>variance</a:t>
            </a:r>
            <a:r>
              <a:t> from the mean:</a:t>
            </a:r>
          </a:p>
          <a:p>
            <a:pPr defTabSz="457200">
              <a:spcBef>
                <a:spcPts val="7300"/>
              </a:spcBef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230605" indent="-230605" defTabSz="457200">
              <a:spcBef>
                <a:spcPts val="54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</p:txBody>
      </p:sp>
      <p:sp>
        <p:nvSpPr>
          <p:cNvPr id="115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6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118" name="The term Expected Value refers to the theoretical average of a random variable (or some function of random variables)."/>
          <p:cNvSpPr txBox="1"/>
          <p:nvPr/>
        </p:nvSpPr>
        <p:spPr>
          <a:xfrm>
            <a:off x="172109" y="1182303"/>
            <a:ext cx="10800692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term </a:t>
            </a:r>
            <a:r>
              <a:rPr b="1" u="sng"/>
              <a:t>Expected Value</a:t>
            </a:r>
            <a:r>
              <a:t> refers to the </a:t>
            </a:r>
            <a:r>
              <a:rPr b="1" i="1"/>
              <a:t>theoretical</a:t>
            </a:r>
            <a:r>
              <a:t> </a:t>
            </a:r>
            <a:r>
              <a:rPr b="1" i="1"/>
              <a:t>average</a:t>
            </a:r>
            <a:r>
              <a:t> of a random variable (or some function of random variables).</a:t>
            </a:r>
          </a:p>
        </p:txBody>
      </p:sp>
      <p:sp>
        <p:nvSpPr>
          <p:cNvPr id="119" name="Expected Values of Random Variables"/>
          <p:cNvSpPr txBox="1"/>
          <p:nvPr/>
        </p:nvSpPr>
        <p:spPr>
          <a:xfrm>
            <a:off x="151502" y="615316"/>
            <a:ext cx="6492155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Expected Values of 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Equation"/>
              <p:cNvSpPr txBox="1"/>
              <p:nvPr/>
            </p:nvSpPr>
            <p:spPr>
              <a:xfrm>
                <a:off x="7739950" y="2082468"/>
                <a:ext cx="2973291" cy="81732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):=</m:t>
                      </m:r>
                      <m:limLow>
                        <m:limLow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lim>
                      </m:limLow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900"/>
              </a:p>
            </p:txBody>
          </p:sp>
        </mc:Choice>
        <mc:Fallback xmlns="">
          <p:sp>
            <p:nvSpPr>
              <p:cNvPr id="12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9950" y="2082468"/>
                <a:ext cx="2973291" cy="817321"/>
              </a:xfrm>
              <a:prstGeom prst="rect">
                <a:avLst/>
              </a:prstGeom>
              <a:blipFill>
                <a:blip r:embed="rId3"/>
                <a:stretch>
                  <a:fillRect r="-677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Equation"/>
              <p:cNvSpPr txBox="1"/>
              <p:nvPr/>
            </p:nvSpPr>
            <p:spPr>
              <a:xfrm>
                <a:off x="8119178" y="3189766"/>
                <a:ext cx="3724451" cy="101012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):=</m:t>
                      </m:r>
                      <m:sSubSup>
                        <m:sSubSup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∫</m:t>
                          </m:r>
                        </m:e>
                        <m:sub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dx</m:t>
                      </m:r>
                    </m:oMath>
                  </m:oMathPara>
                </a14:m>
                <a:endParaRPr sz="3200" dirty="0"/>
              </a:p>
            </p:txBody>
          </p:sp>
        </mc:Choice>
        <mc:Fallback xmlns="">
          <p:sp>
            <p:nvSpPr>
              <p:cNvPr id="12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9178" y="3189766"/>
                <a:ext cx="3724451" cy="1010128"/>
              </a:xfrm>
              <a:prstGeom prst="rect">
                <a:avLst/>
              </a:prstGeom>
              <a:blipFill>
                <a:blip r:embed="rId4"/>
                <a:stretch>
                  <a:fillRect l="-3741" r="-1360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Equation"/>
              <p:cNvSpPr txBox="1"/>
              <p:nvPr/>
            </p:nvSpPr>
            <p:spPr>
              <a:xfrm>
                <a:off x="7044104" y="4898457"/>
                <a:ext cx="4650759" cy="789163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):=</m:t>
                      </m:r>
                      <m:sSubSup>
                        <m:sSubSu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∫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  <m:sSup>
                        <m:sSu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d>
                        </m:e>
                        <m:sup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dx</m:t>
                      </m:r>
                    </m:oMath>
                  </m:oMathPara>
                </a14:m>
                <a:endParaRPr sz="2500" dirty="0"/>
              </a:p>
            </p:txBody>
          </p:sp>
        </mc:Choice>
        <mc:Fallback xmlns="">
          <p:sp>
            <p:nvSpPr>
              <p:cNvPr id="12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104" y="4898457"/>
                <a:ext cx="4650759" cy="789163"/>
              </a:xfrm>
              <a:prstGeom prst="rect">
                <a:avLst/>
              </a:prstGeom>
              <a:blipFill>
                <a:blip r:embed="rId5"/>
                <a:stretch>
                  <a:fillRect l="-2452" r="-817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Equation"/>
              <p:cNvSpPr txBox="1"/>
              <p:nvPr/>
            </p:nvSpPr>
            <p:spPr>
              <a:xfrm>
                <a:off x="871315" y="4954021"/>
                <a:ext cx="4629471" cy="74315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):=</m:t>
                      </m:r>
                      <m:limLow>
                        <m:limLow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lim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lim>
                      </m:limLow>
                      <m:sSup>
                        <m:sSup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𝔼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sz="25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d>
                        </m:e>
                        <m:sup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dx</m:t>
                      </m:r>
                    </m:oMath>
                  </m:oMathPara>
                </a14:m>
                <a:endParaRPr sz="2500"/>
              </a:p>
            </p:txBody>
          </p:sp>
        </mc:Choice>
        <mc:Fallback xmlns="">
          <p:sp>
            <p:nvSpPr>
              <p:cNvPr id="12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315" y="4954021"/>
                <a:ext cx="4629471" cy="743151"/>
              </a:xfrm>
              <a:prstGeom prst="rect">
                <a:avLst/>
              </a:prstGeom>
              <a:blipFill>
                <a:blip r:embed="rId6"/>
                <a:stretch>
                  <a:fillRect r="-4084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27CE4AA3-1FD7-A40D-8F12-A11CF72A43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9603017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he sample mean of   experiments:…"/>
              <p:cNvSpPr txBox="1"/>
              <p:nvPr/>
            </p:nvSpPr>
            <p:spPr>
              <a:xfrm>
                <a:off x="281958" y="2106852"/>
                <a:ext cx="11628084" cy="366055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230605" indent="-230605" defTabSz="457200">
                  <a:spcBef>
                    <a:spcPts val="6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The </a:t>
                </a:r>
                <a:r>
                  <a:rPr b="1" i="1"/>
                  <a:t>sample mean</a:t>
                </a:r>
                <a:r>
                  <a:t> of </a:t>
                </a: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t> experiments: </a:t>
                </a:r>
              </a:p>
              <a:p>
                <a:pPr marL="230605" indent="-230605" defTabSz="457200">
                  <a:spcBef>
                    <a:spcPts val="70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The </a:t>
                </a:r>
                <a:r>
                  <a:rPr b="1" i="1"/>
                  <a:t>sample variance</a:t>
                </a:r>
                <a:r>
                  <a:t> of </a:t>
                </a:r>
                <a14:m>
                  <m:oMath xmlns:m="http://schemas.openxmlformats.org/officeDocument/2006/math">
                    <m:r>
                      <a:rPr sz="21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t> experiments : </a:t>
                </a:r>
              </a:p>
              <a:p>
                <a:pPr marL="611605" lvl="1" indent="-230605" defTabSz="457200">
                  <a:spcBef>
                    <a:spcPts val="70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In the calculation of the sample variance</a:t>
                </a:r>
                <a:r>
                  <a:rPr i="1"/>
                  <a:t>, </a:t>
                </a:r>
                <a:r>
                  <a:t>the denominator </a:t>
                </a:r>
                <a14:m>
                  <m:oMath xmlns:m="http://schemas.openxmlformats.org/officeDocument/2006/math"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t> reflects the fact that we already used up one degree of freedom to compute the mean, so we only have (N-1) independent observations left from which to compute the variance!</a:t>
                </a:r>
              </a:p>
            </p:txBody>
          </p:sp>
        </mc:Choice>
        <mc:Fallback xmlns="">
          <p:sp>
            <p:nvSpPr>
              <p:cNvPr id="125" name="The sample mean of   experiments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58" y="2106852"/>
                <a:ext cx="11628084" cy="3660551"/>
              </a:xfrm>
              <a:prstGeom prst="rect">
                <a:avLst/>
              </a:prstGeom>
              <a:blipFill>
                <a:blip r:embed="rId2"/>
                <a:stretch>
                  <a:fillRect l="-996" t="-1500" b="-333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7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129" name="When we do an experiment, we collect samples of random variables. From these we can compute summary statistics:"/>
          <p:cNvSpPr txBox="1"/>
          <p:nvPr/>
        </p:nvSpPr>
        <p:spPr>
          <a:xfrm>
            <a:off x="172109" y="1182303"/>
            <a:ext cx="10800692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When we do an experiment, we collect </a:t>
            </a:r>
            <a:r>
              <a:rPr b="1" i="1"/>
              <a:t>samples</a:t>
            </a:r>
            <a:r>
              <a:t> of random variables. From these we can compute </a:t>
            </a:r>
            <a:r>
              <a:rPr b="1" i="1"/>
              <a:t>summary statistics</a:t>
            </a:r>
            <a:r>
              <a:t>:</a:t>
            </a:r>
          </a:p>
        </p:txBody>
      </p:sp>
      <p:sp>
        <p:nvSpPr>
          <p:cNvPr id="130" name="Sample Statistics"/>
          <p:cNvSpPr txBox="1"/>
          <p:nvPr/>
        </p:nvSpPr>
        <p:spPr>
          <a:xfrm>
            <a:off x="151502" y="615316"/>
            <a:ext cx="295846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Sample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Equation"/>
              <p:cNvSpPr txBox="1"/>
              <p:nvPr/>
            </p:nvSpPr>
            <p:spPr>
              <a:xfrm>
                <a:off x="5134034" y="1973085"/>
                <a:ext cx="2537850" cy="75746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pos m:val="top"/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bar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+…+</m:t>
                          </m:r>
                          <m:sSub>
                            <m:sSubPr>
                              <m:ctrlP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sz="2900"/>
              </a:p>
            </p:txBody>
          </p:sp>
        </mc:Choice>
        <mc:Fallback xmlns="">
          <p:sp>
            <p:nvSpPr>
              <p:cNvPr id="13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4034" y="1973085"/>
                <a:ext cx="2537850" cy="757465"/>
              </a:xfrm>
              <a:prstGeom prst="rect">
                <a:avLst/>
              </a:prstGeom>
              <a:blipFill>
                <a:blip r:embed="rId4"/>
                <a:stretch>
                  <a:fillRect r="-3597" b="-564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Equation"/>
              <p:cNvSpPr txBox="1"/>
              <p:nvPr/>
            </p:nvSpPr>
            <p:spPr>
              <a:xfrm>
                <a:off x="5703820" y="3064985"/>
                <a:ext cx="3108614" cy="977355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</m:e>
                            <m:sub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bar>
                          <m:sSup>
                            <m:sSupPr>
                              <m:ctrlP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sz="2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sz="2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sz="29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2900"/>
              </a:p>
            </p:txBody>
          </p:sp>
        </mc:Choice>
        <mc:Fallback xmlns="">
          <p:sp>
            <p:nvSpPr>
              <p:cNvPr id="13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3820" y="3064985"/>
                <a:ext cx="3108614" cy="977355"/>
              </a:xfrm>
              <a:prstGeom prst="rect">
                <a:avLst/>
              </a:prstGeom>
              <a:blipFill>
                <a:blip r:embed="rId5"/>
                <a:stretch>
                  <a:fillRect r="-98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5A9CC789-F15F-B891-4A46-3F0860E111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5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137" name="For many simulations, we wish to generate realistic samples from a known probability distribution.…"/>
          <p:cNvSpPr txBox="1"/>
          <p:nvPr/>
        </p:nvSpPr>
        <p:spPr>
          <a:xfrm>
            <a:off x="209508" y="1244634"/>
            <a:ext cx="11772984" cy="1590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For many simulations, we wish to generate realistic samples from a known probability distribution.</a:t>
            </a:r>
          </a:p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Fortunately, there is a simple recipe for this if you can compute the </a:t>
            </a:r>
            <a:r>
              <a:rPr b="1"/>
              <a:t>cumulative probability distribution</a:t>
            </a:r>
            <a:r>
              <a:t>. </a:t>
            </a:r>
          </a:p>
        </p:txBody>
      </p:sp>
      <p:sp>
        <p:nvSpPr>
          <p:cNvPr id="138" name="Drawing Samples from Probability Distributions"/>
          <p:cNvSpPr txBox="1"/>
          <p:nvPr/>
        </p:nvSpPr>
        <p:spPr>
          <a:xfrm>
            <a:off x="151502" y="615316"/>
            <a:ext cx="8292640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Drawing Samples from Probability Distributions</a:t>
            </a:r>
          </a:p>
        </p:txBody>
      </p:sp>
      <p:grpSp>
        <p:nvGrpSpPr>
          <p:cNvPr id="147" name="Group"/>
          <p:cNvGrpSpPr/>
          <p:nvPr/>
        </p:nvGrpSpPr>
        <p:grpSpPr>
          <a:xfrm>
            <a:off x="1121979" y="3296432"/>
            <a:ext cx="4918433" cy="3010612"/>
            <a:chOff x="951659" y="140581"/>
            <a:chExt cx="4918432" cy="3010611"/>
          </a:xfrm>
        </p:grpSpPr>
        <p:sp>
          <p:nvSpPr>
            <p:cNvPr id="139" name="Line"/>
            <p:cNvSpPr/>
            <p:nvPr/>
          </p:nvSpPr>
          <p:spPr>
            <a:xfrm>
              <a:off x="1390400" y="2852008"/>
              <a:ext cx="4479691" cy="1"/>
            </a:xfrm>
            <a:prstGeom prst="line">
              <a:avLst/>
            </a:prstGeom>
            <a:noFill/>
            <a:ln w="63500" cap="flat">
              <a:solidFill>
                <a:schemeClr val="accent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0" name="Line"/>
            <p:cNvSpPr/>
            <p:nvPr/>
          </p:nvSpPr>
          <p:spPr>
            <a:xfrm flipH="1" flipV="1">
              <a:off x="1422519" y="273148"/>
              <a:ext cx="9185" cy="2578860"/>
            </a:xfrm>
            <a:prstGeom prst="line">
              <a:avLst/>
            </a:prstGeom>
            <a:noFill/>
            <a:ln w="63500" cap="flat">
              <a:solidFill>
                <a:schemeClr val="accent1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Equation"/>
                <p:cNvSpPr txBox="1"/>
                <p:nvPr/>
              </p:nvSpPr>
              <p:spPr>
                <a:xfrm>
                  <a:off x="3157535" y="223055"/>
                  <a:ext cx="1091581" cy="49244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latinLnBrk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sz="32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ar-AE" sz="32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ar-AE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sz="3200" dirty="0"/>
                </a:p>
              </p:txBody>
            </p:sp>
          </mc:Choice>
          <mc:Fallback xmlns="">
            <p:sp>
              <p:nvSpPr>
                <p:cNvPr id="14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7535" y="223055"/>
                  <a:ext cx="1091581" cy="492443"/>
                </a:xfrm>
                <a:prstGeom prst="rect">
                  <a:avLst/>
                </a:prstGeom>
                <a:blipFill>
                  <a:blip r:embed="rId2"/>
                  <a:stretch>
                    <a:fillRect l="-8140" r="-13953" b="-35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3" name="Line"/>
            <p:cNvSpPr/>
            <p:nvPr/>
          </p:nvSpPr>
          <p:spPr>
            <a:xfrm>
              <a:off x="1507069" y="508369"/>
              <a:ext cx="4122961" cy="23496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79" extrusionOk="0">
                  <a:moveTo>
                    <a:pt x="0" y="21450"/>
                  </a:moveTo>
                  <a:cubicBezTo>
                    <a:pt x="1242" y="21600"/>
                    <a:pt x="2484" y="21177"/>
                    <a:pt x="3603" y="20223"/>
                  </a:cubicBezTo>
                  <a:cubicBezTo>
                    <a:pt x="4582" y="19388"/>
                    <a:pt x="5433" y="18174"/>
                    <a:pt x="6198" y="16821"/>
                  </a:cubicBezTo>
                  <a:cubicBezTo>
                    <a:pt x="6937" y="15513"/>
                    <a:pt x="7599" y="14073"/>
                    <a:pt x="8109" y="12466"/>
                  </a:cubicBezTo>
                  <a:cubicBezTo>
                    <a:pt x="8559" y="11049"/>
                    <a:pt x="8885" y="9515"/>
                    <a:pt x="9399" y="8164"/>
                  </a:cubicBezTo>
                  <a:cubicBezTo>
                    <a:pt x="9838" y="7010"/>
                    <a:pt x="10401" y="6022"/>
                    <a:pt x="11021" y="5160"/>
                  </a:cubicBezTo>
                  <a:cubicBezTo>
                    <a:pt x="11738" y="4165"/>
                    <a:pt x="12527" y="3343"/>
                    <a:pt x="13348" y="2633"/>
                  </a:cubicBezTo>
                  <a:cubicBezTo>
                    <a:pt x="14226" y="1872"/>
                    <a:pt x="15142" y="1239"/>
                    <a:pt x="16100" y="864"/>
                  </a:cubicBezTo>
                  <a:cubicBezTo>
                    <a:pt x="16970" y="524"/>
                    <a:pt x="17860" y="403"/>
                    <a:pt x="18749" y="296"/>
                  </a:cubicBezTo>
                  <a:cubicBezTo>
                    <a:pt x="19699" y="182"/>
                    <a:pt x="20649" y="83"/>
                    <a:pt x="21600" y="0"/>
                  </a:cubicBezTo>
                </a:path>
              </a:pathLst>
            </a:custGeom>
            <a:noFill/>
            <a:ln w="63500" cap="flat">
              <a:solidFill>
                <a:schemeClr val="accent6">
                  <a:lumOff val="-9568"/>
                </a:schemeClr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144" name="0"/>
            <p:cNvSpPr txBox="1"/>
            <p:nvPr/>
          </p:nvSpPr>
          <p:spPr>
            <a:xfrm>
              <a:off x="951659" y="2561305"/>
              <a:ext cx="360225" cy="5453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r>
                <a:t>0</a:t>
              </a:r>
            </a:p>
          </p:txBody>
        </p:sp>
        <p:sp>
          <p:nvSpPr>
            <p:cNvPr id="145" name="1"/>
            <p:cNvSpPr txBox="1"/>
            <p:nvPr/>
          </p:nvSpPr>
          <p:spPr>
            <a:xfrm>
              <a:off x="951659" y="140581"/>
              <a:ext cx="360225" cy="5453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r>
                <a:t>1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Equation"/>
                <p:cNvSpPr txBox="1"/>
                <p:nvPr/>
              </p:nvSpPr>
              <p:spPr>
                <a:xfrm>
                  <a:off x="3195997" y="2927315"/>
                  <a:ext cx="234774" cy="22387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latinLnBrk="1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3900" i="1">
                            <a:solidFill>
                              <a:srgbClr val="487CAA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sz="3900">
                    <a:solidFill>
                      <a:srgbClr val="497CAA"/>
                    </a:solidFill>
                  </a:endParaRPr>
                </a:p>
              </p:txBody>
            </p:sp>
          </mc:Choice>
          <mc:Fallback xmlns="">
            <p:sp>
              <p:nvSpPr>
                <p:cNvPr id="14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5997" y="2927315"/>
                  <a:ext cx="234774" cy="223877"/>
                </a:xfrm>
                <a:prstGeom prst="rect">
                  <a:avLst/>
                </a:prstGeom>
                <a:blipFill>
                  <a:blip r:embed="rId5"/>
                  <a:stretch>
                    <a:fillRect r="-10256" b="-10810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8" name="Step 1 - define the cumulative distribution function (this can be discrete or continuous)"/>
          <p:cNvSpPr txBox="1"/>
          <p:nvPr/>
        </p:nvSpPr>
        <p:spPr>
          <a:xfrm>
            <a:off x="6119867" y="2643192"/>
            <a:ext cx="5870091" cy="802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0605" indent="-230605" defTabSz="457200">
              <a:spcBef>
                <a:spcPts val="600"/>
              </a:spcBef>
              <a:buSzPct val="100000"/>
              <a:buChar char="•"/>
              <a:defRPr sz="230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Step 1 - </a:t>
            </a:r>
            <a:r>
              <a:rPr b="0"/>
              <a:t>define the cumulative distribution function (this can be discrete or continuous)</a:t>
            </a:r>
          </a:p>
        </p:txBody>
      </p:sp>
      <p:sp>
        <p:nvSpPr>
          <p:cNvPr id="149" name="Line"/>
          <p:cNvSpPr/>
          <p:nvPr/>
        </p:nvSpPr>
        <p:spPr>
          <a:xfrm>
            <a:off x="5260130" y="2888122"/>
            <a:ext cx="821646" cy="7370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94" extrusionOk="0">
                <a:moveTo>
                  <a:pt x="21600" y="1600"/>
                </a:moveTo>
                <a:cubicBezTo>
                  <a:pt x="19451" y="43"/>
                  <a:pt x="16780" y="-406"/>
                  <a:pt x="14303" y="377"/>
                </a:cubicBezTo>
                <a:cubicBezTo>
                  <a:pt x="11186" y="1362"/>
                  <a:pt x="8942" y="3913"/>
                  <a:pt x="7066" y="6531"/>
                </a:cubicBezTo>
                <a:cubicBezTo>
                  <a:pt x="3998" y="10812"/>
                  <a:pt x="1575" y="15730"/>
                  <a:pt x="0" y="21194"/>
                </a:cubicBezTo>
              </a:path>
            </a:pathLst>
          </a:custGeom>
          <a:ln w="50800">
            <a:solidFill>
              <a:schemeClr val="accent1"/>
            </a:solidFill>
            <a:miter/>
            <a:tailEnd type="arrow"/>
          </a:ln>
        </p:spPr>
        <p:txBody>
          <a:bodyPr lIns="45719" rIns="45719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Step 2 - generate a uniform random variable   between zero and one."/>
              <p:cNvSpPr txBox="1"/>
              <p:nvPr/>
            </p:nvSpPr>
            <p:spPr>
              <a:xfrm>
                <a:off x="6145267" y="3613389"/>
                <a:ext cx="5870091" cy="80701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230605" indent="-230605" defTabSz="457200">
                  <a:spcBef>
                    <a:spcPts val="600"/>
                  </a:spcBef>
                  <a:buSzPct val="100000"/>
                  <a:buChar char="•"/>
                  <a:defRPr sz="2300" b="1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Step 2 - </a:t>
                </a:r>
                <a:r>
                  <a:rPr b="0"/>
                  <a:t>generate a uniform random variable </a:t>
                </a:r>
                <a14:m>
                  <m:oMath xmlns:m="http://schemas.openxmlformats.org/officeDocument/2006/math">
                    <m:r>
                      <a:rPr sz="2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b="0"/>
                  <a:t> between zero and one.</a:t>
                </a:r>
              </a:p>
            </p:txBody>
          </p:sp>
        </mc:Choice>
        <mc:Fallback xmlns="">
          <p:sp>
            <p:nvSpPr>
              <p:cNvPr id="150" name="Step 2 - generate a uniform random variable   between zero and one.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267" y="3613389"/>
                <a:ext cx="5870091" cy="807011"/>
              </a:xfrm>
              <a:prstGeom prst="rect">
                <a:avLst/>
              </a:prstGeom>
              <a:blipFill>
                <a:blip r:embed="rId6"/>
                <a:stretch>
                  <a:fillRect l="-1973" t="-3788" b="-189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Equation"/>
              <p:cNvSpPr txBox="1"/>
              <p:nvPr/>
            </p:nvSpPr>
            <p:spPr>
              <a:xfrm>
                <a:off x="1195410" y="4164678"/>
                <a:ext cx="333938" cy="553998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600" i="1">
                          <a:solidFill>
                            <a:srgbClr val="BD6427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sz="3600" dirty="0">
                  <a:solidFill>
                    <a:srgbClr val="BE6427"/>
                  </a:solidFill>
                </a:endParaRPr>
              </a:p>
            </p:txBody>
          </p:sp>
        </mc:Choice>
        <mc:Fallback xmlns="">
          <p:sp>
            <p:nvSpPr>
              <p:cNvPr id="15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410" y="4164678"/>
                <a:ext cx="333938" cy="553998"/>
              </a:xfrm>
              <a:prstGeom prst="rect">
                <a:avLst/>
              </a:prstGeom>
              <a:blipFill>
                <a:blip r:embed="rId7"/>
                <a:stretch>
                  <a:fillRect l="-18519" r="-1481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Line"/>
          <p:cNvSpPr/>
          <p:nvPr/>
        </p:nvSpPr>
        <p:spPr>
          <a:xfrm flipH="1" flipV="1">
            <a:off x="1673466" y="4512785"/>
            <a:ext cx="3937130" cy="1"/>
          </a:xfrm>
          <a:prstGeom prst="line">
            <a:avLst/>
          </a:prstGeom>
          <a:ln w="38100">
            <a:solidFill>
              <a:schemeClr val="accent2">
                <a:satOff val="-18194"/>
                <a:lumOff val="-11215"/>
              </a:schemeClr>
            </a:solidFill>
            <a:custDash>
              <a:ds d="200000" sp="200000"/>
            </a:custDash>
            <a:miter lim="400000"/>
          </a:ln>
        </p:spPr>
        <p:txBody>
          <a:bodyPr lIns="45719" rIns="45719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Step 3 - find the point where   and then solve for  ."/>
              <p:cNvSpPr txBox="1"/>
              <p:nvPr/>
            </p:nvSpPr>
            <p:spPr>
              <a:xfrm>
                <a:off x="6145267" y="4583586"/>
                <a:ext cx="5870091" cy="81138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230605" indent="-230605" defTabSz="457200">
                  <a:spcBef>
                    <a:spcPts val="600"/>
                  </a:spcBef>
                  <a:buSzPct val="100000"/>
                  <a:buChar char="•"/>
                  <a:defRPr sz="2300" b="1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t>Step 3 -</a:t>
                </a:r>
                <a:r>
                  <a:rPr b="0"/>
                  <a:t> find the point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b="0"/>
                  <a:t> and then solve for </a:t>
                </a:r>
                <a14:m>
                  <m:oMath xmlns:m="http://schemas.openxmlformats.org/officeDocument/2006/math">
                    <m:r>
                      <a:rPr sz="2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b="0"/>
                  <a:t>.</a:t>
                </a:r>
              </a:p>
            </p:txBody>
          </p:sp>
        </mc:Choice>
        <mc:Fallback xmlns="">
          <p:sp>
            <p:nvSpPr>
              <p:cNvPr id="153" name="Step 3 - find the point where   and then solve for  .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267" y="4583586"/>
                <a:ext cx="5870091" cy="811381"/>
              </a:xfrm>
              <a:prstGeom prst="rect">
                <a:avLst/>
              </a:prstGeom>
              <a:blipFill>
                <a:blip r:embed="rId8"/>
                <a:stretch>
                  <a:fillRect l="-1973" t="-6015" b="-1503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" name="Line"/>
          <p:cNvSpPr/>
          <p:nvPr/>
        </p:nvSpPr>
        <p:spPr>
          <a:xfrm flipV="1">
            <a:off x="3480764" y="4515595"/>
            <a:ext cx="1" cy="1502128"/>
          </a:xfrm>
          <a:prstGeom prst="line">
            <a:avLst/>
          </a:prstGeom>
          <a:ln w="38100">
            <a:solidFill>
              <a:schemeClr val="accent5">
                <a:satOff val="-19091"/>
                <a:lumOff val="-11921"/>
              </a:schemeClr>
            </a:solidFill>
            <a:custDash>
              <a:ds d="200000" sp="200000"/>
            </a:custDash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Line"/>
          <p:cNvSpPr/>
          <p:nvPr/>
        </p:nvSpPr>
        <p:spPr>
          <a:xfrm>
            <a:off x="5473263" y="3908810"/>
            <a:ext cx="821647" cy="5340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94" extrusionOk="0">
                <a:moveTo>
                  <a:pt x="21600" y="1600"/>
                </a:moveTo>
                <a:cubicBezTo>
                  <a:pt x="19451" y="43"/>
                  <a:pt x="16780" y="-406"/>
                  <a:pt x="14303" y="377"/>
                </a:cubicBezTo>
                <a:cubicBezTo>
                  <a:pt x="11186" y="1362"/>
                  <a:pt x="8942" y="3913"/>
                  <a:pt x="7066" y="6531"/>
                </a:cubicBezTo>
                <a:cubicBezTo>
                  <a:pt x="3998" y="10812"/>
                  <a:pt x="1575" y="15730"/>
                  <a:pt x="0" y="21194"/>
                </a:cubicBezTo>
              </a:path>
            </a:pathLst>
          </a:custGeom>
          <a:ln w="50800">
            <a:solidFill>
              <a:schemeClr val="accent2">
                <a:satOff val="-18194"/>
                <a:lumOff val="-11215"/>
              </a:schemeClr>
            </a:solidFill>
            <a:miter/>
            <a:tailEnd type="arrow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" name="Line"/>
          <p:cNvSpPr/>
          <p:nvPr/>
        </p:nvSpPr>
        <p:spPr>
          <a:xfrm>
            <a:off x="3536773" y="4929503"/>
            <a:ext cx="2559227" cy="7426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6997" y="68"/>
                  <a:pt x="12454" y="3634"/>
                  <a:pt x="8296" y="10443"/>
                </a:cubicBezTo>
                <a:cubicBezTo>
                  <a:pt x="6919" y="12699"/>
                  <a:pt x="5590" y="15303"/>
                  <a:pt x="4185" y="17347"/>
                </a:cubicBezTo>
                <a:cubicBezTo>
                  <a:pt x="2841" y="19302"/>
                  <a:pt x="1437" y="20728"/>
                  <a:pt x="0" y="21600"/>
                </a:cubicBezTo>
              </a:path>
            </a:pathLst>
          </a:custGeom>
          <a:ln w="50800">
            <a:solidFill>
              <a:schemeClr val="accent1"/>
            </a:solidFill>
            <a:miter/>
            <a:tailEnd type="arrow"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77BEF747-4684-93CC-7DA5-4442DFC33E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9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We often need to rescale random numbers (e.g. so that they are easier to plot or understand)…"/>
              <p:cNvSpPr txBox="1"/>
              <p:nvPr/>
            </p:nvSpPr>
            <p:spPr>
              <a:xfrm>
                <a:off x="209508" y="1244634"/>
                <a:ext cx="11772984" cy="490846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230605" indent="-230605" defTabSz="457200">
                  <a:spcBef>
                    <a:spcPts val="15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dirty="0"/>
                  <a:t>We often need to </a:t>
                </a:r>
                <a:r>
                  <a:rPr b="1" dirty="0"/>
                  <a:t>rescale</a:t>
                </a:r>
                <a:r>
                  <a:rPr dirty="0"/>
                  <a:t> random numbers (e.g. so that they are easier to plot or understand)</a:t>
                </a:r>
              </a:p>
              <a:p>
                <a:pPr algn="ctr" defTabSz="457200">
                  <a:spcBef>
                    <a:spcPts val="1500"/>
                  </a:spcBef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14:m>
                  <m:oMath xmlns:m="http://schemas.openxmlformats.org/officeDocument/2006/math"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)→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b>
                      <m:sSub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 where we know that </a:t>
                </a:r>
                <a14:m>
                  <m:oMath xmlns:m="http://schemas.openxmlformats.org/officeDocument/2006/math"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dirty="0"/>
              </a:p>
              <a:p>
                <a:pPr marL="230605" indent="-230605" defTabSz="457200">
                  <a:spcBef>
                    <a:spcPts val="15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dirty="0"/>
                  <a:t>For this, we need to be careful — such transformations can have large and complicated effects on probability distributions!</a:t>
                </a:r>
              </a:p>
              <a:p>
                <a:pPr marL="230605" indent="-230605" defTabSz="457200">
                  <a:spcBef>
                    <a:spcPts val="15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dirty="0"/>
                  <a:t>For the special case where the transformation </a:t>
                </a:r>
                <a14:m>
                  <m:oMath xmlns:m="http://schemas.openxmlformats.org/officeDocument/2006/math"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is one-to-one (i.e., every value of the old sample space maps to a unique value in the transformed sample space), then </a:t>
                </a:r>
                <a14:m>
                  <m:oMath xmlns:m="http://schemas.openxmlformats.org/officeDocument/2006/math"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is invertible and this transformation can be defined:</a:t>
                </a:r>
              </a:p>
              <a:p>
                <a:pPr algn="ctr" defTabSz="457200">
                  <a:spcBef>
                    <a:spcPts val="100"/>
                  </a:spcBef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  <m:d>
                        <m:dPr>
                          <m:begChr m:val="|"/>
                          <m:endChr m:val="|"/>
                          <m:ctrlP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  <m:sSup>
                            <m:sSupPr>
                              <m:ctrlP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dirty="0"/>
              </a:p>
              <a:p>
                <a:pPr marL="230605" indent="-230605" defTabSz="457200">
                  <a:spcBef>
                    <a:spcPts val="15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dirty="0"/>
                  <a:t>When </a:t>
                </a:r>
                <a14:m>
                  <m:oMath xmlns:m="http://schemas.openxmlformats.org/officeDocument/2006/math"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dirty="0"/>
                  <a:t> is not invertible (e.g., </a:t>
                </a:r>
                <a14:m>
                  <m:oMath xmlns:m="http://schemas.openxmlformats.org/officeDocument/2006/math"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sz="24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sz="2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2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sz="24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dirty="0"/>
                  <a:t>), it gets a lot more complicated as multiple values of </a:t>
                </a:r>
                <a14:m>
                  <m:oMath xmlns:m="http://schemas.openxmlformats.org/officeDocument/2006/math">
                    <m:r>
                      <a:rPr sz="2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dirty="0"/>
                  <a:t> could correspond to a single entry for </a:t>
                </a:r>
                <a14:m>
                  <m:oMath xmlns:m="http://schemas.openxmlformats.org/officeDocument/2006/math"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dirty="0"/>
                  <a:t>. </a:t>
                </a:r>
              </a:p>
            </p:txBody>
          </p:sp>
        </mc:Choice>
        <mc:Fallback xmlns="">
          <p:sp>
            <p:nvSpPr>
              <p:cNvPr id="161" name="We often need to rescale random numbers (e.g. so that they are easier to plot or understand)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08" y="1244634"/>
                <a:ext cx="11772984" cy="4908460"/>
              </a:xfrm>
              <a:prstGeom prst="rect">
                <a:avLst/>
              </a:prstGeom>
              <a:blipFill>
                <a:blip r:embed="rId2"/>
                <a:stretch>
                  <a:fillRect l="-862" t="-773" r="-1401" b="-206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hanging the units or scales for probability distributions."/>
          <p:cNvSpPr txBox="1"/>
          <p:nvPr/>
        </p:nvSpPr>
        <p:spPr>
          <a:xfrm>
            <a:off x="151502" y="615316"/>
            <a:ext cx="9927226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Changing the units or scales for probability distributions.  </a:t>
            </a:r>
          </a:p>
        </p:txBody>
      </p:sp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2B3B6F24-6F74-A767-66E8-4B3B9F776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167" name="It is often interesting to deal with the summation of many observations.…"/>
          <p:cNvSpPr txBox="1"/>
          <p:nvPr/>
        </p:nvSpPr>
        <p:spPr>
          <a:xfrm>
            <a:off x="209508" y="1244634"/>
            <a:ext cx="11772984" cy="1346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It is often interesting to deal with the summation of many observations.  </a:t>
            </a:r>
          </a:p>
          <a:p>
            <a:pPr marL="611605" lvl="1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dirty="0"/>
              <a:t>For example, that was an important step in computing the sample mean or the sample variance for some experiments.</a:t>
            </a:r>
          </a:p>
        </p:txBody>
      </p:sp>
      <p:sp>
        <p:nvSpPr>
          <p:cNvPr id="168" name="Central Limit Theorem"/>
          <p:cNvSpPr txBox="1"/>
          <p:nvPr/>
        </p:nvSpPr>
        <p:spPr>
          <a:xfrm>
            <a:off x="151502" y="615316"/>
            <a:ext cx="11420753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dirty="0"/>
              <a:t>Central Limit Theorem</a:t>
            </a:r>
            <a:r>
              <a:rPr lang="en-US" dirty="0"/>
              <a:t> – what happens if I flip hundreds of coins?</a:t>
            </a:r>
            <a:endParaRPr dirty="0"/>
          </a:p>
        </p:txBody>
      </p:sp>
      <p:pic>
        <p:nvPicPr>
          <p:cNvPr id="3" name="Picture 2" descr="Coins standing upright and lying on table">
            <a:extLst>
              <a:ext uri="{FF2B5EF4-FFF2-40B4-BE49-F238E27FC236}">
                <a16:creationId xmlns:a16="http://schemas.microsoft.com/office/drawing/2014/main" id="{C6E5A756-D6B7-4EE0-BAEB-CE6FCA0FD8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6" t="28590" r="46695" b="26538"/>
          <a:stretch/>
        </p:blipFill>
        <p:spPr>
          <a:xfrm>
            <a:off x="805167" y="3178805"/>
            <a:ext cx="764335" cy="7249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9" name="Picture 8" descr="Coins standing upright and lying on table">
            <a:extLst>
              <a:ext uri="{FF2B5EF4-FFF2-40B4-BE49-F238E27FC236}">
                <a16:creationId xmlns:a16="http://schemas.microsoft.com/office/drawing/2014/main" id="{BF8EDFD0-A3F7-4E0D-9608-2CC4859AA7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6" t="28590" r="46695" b="26538"/>
          <a:stretch/>
        </p:blipFill>
        <p:spPr>
          <a:xfrm>
            <a:off x="2049345" y="3178806"/>
            <a:ext cx="764335" cy="7249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0" name="Picture 9" descr="Coins standing upright and lying on table">
            <a:extLst>
              <a:ext uri="{FF2B5EF4-FFF2-40B4-BE49-F238E27FC236}">
                <a16:creationId xmlns:a16="http://schemas.microsoft.com/office/drawing/2014/main" id="{9307D802-143C-439B-A29E-D2064DA9E1A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6" t="28590" r="46695" b="26538"/>
          <a:stretch/>
        </p:blipFill>
        <p:spPr>
          <a:xfrm>
            <a:off x="3293523" y="3178806"/>
            <a:ext cx="764335" cy="7249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1" name="Picture 10" descr="Coins standing upright and lying on table">
            <a:extLst>
              <a:ext uri="{FF2B5EF4-FFF2-40B4-BE49-F238E27FC236}">
                <a16:creationId xmlns:a16="http://schemas.microsoft.com/office/drawing/2014/main" id="{6DCF6A1C-4734-47B9-AC3A-D2253C0F6B8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6" t="28590" r="46695" b="26538"/>
          <a:stretch/>
        </p:blipFill>
        <p:spPr>
          <a:xfrm>
            <a:off x="4537701" y="3178806"/>
            <a:ext cx="764335" cy="7249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12" name="Picture 11" descr="Coins standing upright and lying on table">
            <a:extLst>
              <a:ext uri="{FF2B5EF4-FFF2-40B4-BE49-F238E27FC236}">
                <a16:creationId xmlns:a16="http://schemas.microsoft.com/office/drawing/2014/main" id="{B68122ED-53CC-4E02-92BD-8D354E1340C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6" t="28590" r="46695" b="26538"/>
          <a:stretch/>
        </p:blipFill>
        <p:spPr>
          <a:xfrm>
            <a:off x="7127741" y="3178804"/>
            <a:ext cx="764335" cy="72497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B7F7268-F5BE-4DB7-AF42-4982752B7698}"/>
              </a:ext>
            </a:extLst>
          </p:cNvPr>
          <p:cNvSpPr/>
          <p:nvPr/>
        </p:nvSpPr>
        <p:spPr>
          <a:xfrm>
            <a:off x="5609492" y="3815862"/>
            <a:ext cx="96716" cy="87921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B1FF64-36CC-44A6-8233-763D3C8E22C3}"/>
              </a:ext>
            </a:extLst>
          </p:cNvPr>
          <p:cNvSpPr/>
          <p:nvPr/>
        </p:nvSpPr>
        <p:spPr>
          <a:xfrm>
            <a:off x="5926609" y="3818803"/>
            <a:ext cx="96716" cy="87921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FBE7114-0C3E-497A-955D-0C917DCA7C5D}"/>
              </a:ext>
            </a:extLst>
          </p:cNvPr>
          <p:cNvSpPr/>
          <p:nvPr/>
        </p:nvSpPr>
        <p:spPr>
          <a:xfrm>
            <a:off x="6249557" y="3815862"/>
            <a:ext cx="96716" cy="87921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B2DCBD9-DBDC-48BE-AF69-1493FA3A36E7}"/>
              </a:ext>
            </a:extLst>
          </p:cNvPr>
          <p:cNvSpPr/>
          <p:nvPr/>
        </p:nvSpPr>
        <p:spPr>
          <a:xfrm>
            <a:off x="6564370" y="3815862"/>
            <a:ext cx="96716" cy="87921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022736A6-844A-263E-6AB7-27655B1CF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It is often interesting to deal with the summation of many observations.…"/>
              <p:cNvSpPr txBox="1"/>
              <p:nvPr/>
            </p:nvSpPr>
            <p:spPr>
              <a:xfrm>
                <a:off x="209508" y="1244634"/>
                <a:ext cx="11772984" cy="285930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45719" rIns="45719">
                <a:spAutoFit/>
              </a:bodyPr>
              <a:lstStyle/>
              <a:p>
                <a:pPr marL="230605" indent="-230605" defTabSz="457200">
                  <a:spcBef>
                    <a:spcPts val="15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dirty="0"/>
                  <a:t>The </a:t>
                </a:r>
                <a:r>
                  <a:rPr i="1" dirty="0"/>
                  <a:t>Central Limit Theorem</a:t>
                </a:r>
                <a:r>
                  <a:rPr dirty="0"/>
                  <a:t> helps us to understand the statistics of such sums when we collect many experiment samples.</a:t>
                </a:r>
              </a:p>
              <a:p>
                <a:pPr marL="230605" indent="-230605" defTabSz="457200">
                  <a:spcBef>
                    <a:spcPts val="1500"/>
                  </a:spcBef>
                  <a:buSzPct val="100000"/>
                  <a:buChar char="•"/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:r>
                  <a:rPr b="1" dirty="0"/>
                  <a:t>Central Limit Theorem: </a:t>
                </a:r>
                <a:r>
                  <a:rPr dirty="0"/>
                  <a:t>For any theoretical random variable with a </a:t>
                </a:r>
                <a:r>
                  <a:rPr b="1" dirty="0"/>
                  <a:t>finite mean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𝔼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dirty="0"/>
                  <a:t> and </a:t>
                </a:r>
                <a:r>
                  <a:rPr b="1" dirty="0"/>
                  <a:t>finite variance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Var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sz="25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dirty="0"/>
                  <a:t>, the distribution of the sample estimate of the mean will be approximately normal:</a:t>
                </a:r>
              </a:p>
              <a:p>
                <a:pPr algn="ctr" defTabSz="457200">
                  <a:spcBef>
                    <a:spcPts val="1500"/>
                  </a:spcBef>
                  <a:defRPr sz="2300">
                    <a:latin typeface="Times Roman"/>
                    <a:ea typeface="Times Roman"/>
                    <a:cs typeface="Times Roman"/>
                    <a:sym typeface="Times Roman"/>
                  </a:defRPr>
                </a:pPr>
                <a14:m>
                  <m:oMath xmlns:m="http://schemas.openxmlformats.org/officeDocument/2006/math">
                    <m:f>
                      <m:f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},</m:t>
                        </m:r>
                        <m:f>
                          <m:fPr>
                            <m:ctrlP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Var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</m:oMath>
                </a14:m>
                <a:r>
                  <a:rPr dirty="0"/>
                  <a:t> for large </a:t>
                </a:r>
                <a14:m>
                  <m:oMath xmlns:m="http://schemas.openxmlformats.org/officeDocument/2006/math">
                    <m:r>
                      <a:rPr sz="2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167" name="It is often interesting to deal with the summation of many observations.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08" y="1244634"/>
                <a:ext cx="11772984" cy="2859309"/>
              </a:xfrm>
              <a:prstGeom prst="rect">
                <a:avLst/>
              </a:prstGeom>
              <a:blipFill>
                <a:blip r:embed="rId3"/>
                <a:stretch>
                  <a:fillRect l="-983" t="-1706" b="-42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Central Limit Theorem"/>
          <p:cNvSpPr txBox="1"/>
          <p:nvPr/>
        </p:nvSpPr>
        <p:spPr>
          <a:xfrm>
            <a:off x="151502" y="615316"/>
            <a:ext cx="4048254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t>Central Limit Theorem</a:t>
            </a:r>
          </a:p>
        </p:txBody>
      </p:sp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9AF4DAE0-C39A-9C0B-CDD5-7F54C80142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0726335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167" name="It is often interesting to deal with the summation of many observations.…"/>
          <p:cNvSpPr txBox="1"/>
          <p:nvPr/>
        </p:nvSpPr>
        <p:spPr>
          <a:xfrm>
            <a:off x="209508" y="1244634"/>
            <a:ext cx="11772984" cy="4816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defTabSz="457200">
              <a:spcBef>
                <a:spcPts val="1500"/>
              </a:spcBef>
              <a:buSzPct val="100000"/>
              <a:buFont typeface="Arial" panose="020B0604020202020204" pitchFamily="34" charset="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u="sng" dirty="0"/>
              <a:t>Bernoulli:</a:t>
            </a:r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168" name="Central Limit Theorem"/>
          <p:cNvSpPr txBox="1"/>
          <p:nvPr/>
        </p:nvSpPr>
        <p:spPr>
          <a:xfrm>
            <a:off x="151502" y="615316"/>
            <a:ext cx="4822793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dirty="0"/>
              <a:t>Basic Discrete Distributions</a:t>
            </a:r>
            <a:endParaRPr dirty="0"/>
          </a:p>
        </p:txBody>
      </p:sp>
      <p:pic>
        <p:nvPicPr>
          <p:cNvPr id="7" name="Picture 6" descr="Coins standing upright and lying on table">
            <a:extLst>
              <a:ext uri="{FF2B5EF4-FFF2-40B4-BE49-F238E27FC236}">
                <a16:creationId xmlns:a16="http://schemas.microsoft.com/office/drawing/2014/main" id="{EE7E06C8-2F37-4290-9DE0-D0366C8B3D4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66" t="28590" r="46695" b="26538"/>
          <a:stretch/>
        </p:blipFill>
        <p:spPr>
          <a:xfrm>
            <a:off x="9547885" y="1046921"/>
            <a:ext cx="887393" cy="84170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51389582-881B-439B-B9D5-1F40730CC1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37" t="42706" r="28966" b="39359"/>
          <a:stretch/>
        </p:blipFill>
        <p:spPr>
          <a:xfrm>
            <a:off x="554319" y="2687619"/>
            <a:ext cx="11411382" cy="2209696"/>
          </a:xfrm>
          <a:prstGeom prst="rect">
            <a:avLst/>
          </a:prstGeom>
        </p:spPr>
      </p:pic>
      <p:sp>
        <p:nvSpPr>
          <p:cNvPr id="14" name="It is often interesting to deal with the summation of many observations.…">
            <a:extLst>
              <a:ext uri="{FF2B5EF4-FFF2-40B4-BE49-F238E27FC236}">
                <a16:creationId xmlns:a16="http://schemas.microsoft.com/office/drawing/2014/main" id="{312CCC7B-4121-4BB1-8F52-7A306ABD06FB}"/>
              </a:ext>
            </a:extLst>
          </p:cNvPr>
          <p:cNvSpPr txBox="1"/>
          <p:nvPr/>
        </p:nvSpPr>
        <p:spPr>
          <a:xfrm>
            <a:off x="1886389" y="1244634"/>
            <a:ext cx="7958545" cy="446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What is the probability of heads during a coin toss?</a:t>
            </a:r>
            <a:endParaRPr dirty="0"/>
          </a:p>
        </p:txBody>
      </p:sp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634315B2-3D76-A3DE-227F-84A702AB37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It is often interesting to deal with the summation of many observations.…">
            <a:extLst>
              <a:ext uri="{FF2B5EF4-FFF2-40B4-BE49-F238E27FC236}">
                <a16:creationId xmlns:a16="http://schemas.microsoft.com/office/drawing/2014/main" id="{6057680F-1E20-9E95-ED46-95411381AADA}"/>
              </a:ext>
            </a:extLst>
          </p:cNvPr>
          <p:cNvSpPr txBox="1"/>
          <p:nvPr/>
        </p:nvSpPr>
        <p:spPr>
          <a:xfrm>
            <a:off x="1881194" y="1718278"/>
            <a:ext cx="7958545" cy="446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What is the probability that a drug will reach market?</a:t>
            </a:r>
            <a:endParaRPr dirty="0"/>
          </a:p>
        </p:txBody>
      </p:sp>
      <p:sp>
        <p:nvSpPr>
          <p:cNvPr id="5" name="It is often interesting to deal with the summation of many observations.…">
            <a:extLst>
              <a:ext uri="{FF2B5EF4-FFF2-40B4-BE49-F238E27FC236}">
                <a16:creationId xmlns:a16="http://schemas.microsoft.com/office/drawing/2014/main" id="{F2122A17-5199-36F5-DAC7-ABB92E98C924}"/>
              </a:ext>
            </a:extLst>
          </p:cNvPr>
          <p:cNvSpPr txBox="1"/>
          <p:nvPr/>
        </p:nvSpPr>
        <p:spPr>
          <a:xfrm>
            <a:off x="1881193" y="2232964"/>
            <a:ext cx="7958545" cy="446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What is the probability that a student will get an A in the course?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5324962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167" name="It is often interesting to deal with the summation of many observations.…"/>
          <p:cNvSpPr txBox="1"/>
          <p:nvPr/>
        </p:nvSpPr>
        <p:spPr>
          <a:xfrm>
            <a:off x="209508" y="1244634"/>
            <a:ext cx="11772984" cy="3177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defTabSz="457200">
              <a:spcBef>
                <a:spcPts val="1500"/>
              </a:spcBef>
              <a:buSzPct val="100000"/>
              <a:buFont typeface="Arial" panose="020B0604020202020204" pitchFamily="34" charset="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u="sng" dirty="0"/>
              <a:t>Binomial:</a:t>
            </a:r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168" name="Central Limit Theorem"/>
          <p:cNvSpPr txBox="1"/>
          <p:nvPr/>
        </p:nvSpPr>
        <p:spPr>
          <a:xfrm>
            <a:off x="151502" y="615316"/>
            <a:ext cx="4822793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dirty="0"/>
              <a:t>Basic Discrete Distributions</a:t>
            </a:r>
            <a:endParaRPr dirty="0"/>
          </a:p>
        </p:txBody>
      </p:sp>
      <p:sp>
        <p:nvSpPr>
          <p:cNvPr id="13" name="It is often interesting to deal with the summation of many observations.…">
            <a:extLst>
              <a:ext uri="{FF2B5EF4-FFF2-40B4-BE49-F238E27FC236}">
                <a16:creationId xmlns:a16="http://schemas.microsoft.com/office/drawing/2014/main" id="{74C4B04E-E8B8-47EC-9950-314D6BE6BD3A}"/>
              </a:ext>
            </a:extLst>
          </p:cNvPr>
          <p:cNvSpPr txBox="1"/>
          <p:nvPr/>
        </p:nvSpPr>
        <p:spPr>
          <a:xfrm>
            <a:off x="1976603" y="1244508"/>
            <a:ext cx="7958545" cy="2439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What is the probability of getting 2 heads out of 3 coin tosses?</a:t>
            </a:r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What is the probability that 5 out of 6 nucleotides will be an ‘G’?</a:t>
            </a:r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What is the probability that 20 out of 25 students in the class will get an ‘A’.</a:t>
            </a:r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What is the probability that 10 out of 12 patients will recover?</a:t>
            </a:r>
            <a:endParaRPr dirty="0"/>
          </a:p>
        </p:txBody>
      </p:sp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4670F216-35D5-19BD-3F92-D0F4A114B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29008453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167" name="It is often interesting to deal with the summation of many observations.…"/>
          <p:cNvSpPr txBox="1"/>
          <p:nvPr/>
        </p:nvSpPr>
        <p:spPr>
          <a:xfrm>
            <a:off x="209508" y="1244634"/>
            <a:ext cx="11772984" cy="3177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defTabSz="457200">
              <a:spcBef>
                <a:spcPts val="1500"/>
              </a:spcBef>
              <a:buSzPct val="100000"/>
              <a:buFont typeface="Arial" panose="020B0604020202020204" pitchFamily="34" charset="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u="sng" dirty="0"/>
              <a:t>Poisson</a:t>
            </a:r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168" name="Central Limit Theorem"/>
          <p:cNvSpPr txBox="1"/>
          <p:nvPr/>
        </p:nvSpPr>
        <p:spPr>
          <a:xfrm>
            <a:off x="151502" y="615316"/>
            <a:ext cx="4822793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dirty="0"/>
              <a:t>Basic Discrete Distributions</a:t>
            </a:r>
            <a:endParaRPr dirty="0"/>
          </a:p>
        </p:txBody>
      </p:sp>
      <p:sp>
        <p:nvSpPr>
          <p:cNvPr id="24" name="It is often interesting to deal with the summation of many observations.…">
            <a:extLst>
              <a:ext uri="{FF2B5EF4-FFF2-40B4-BE49-F238E27FC236}">
                <a16:creationId xmlns:a16="http://schemas.microsoft.com/office/drawing/2014/main" id="{1D440F61-6EA1-42FC-B228-5834EBB807BF}"/>
              </a:ext>
            </a:extLst>
          </p:cNvPr>
          <p:cNvSpPr txBox="1"/>
          <p:nvPr/>
        </p:nvSpPr>
        <p:spPr>
          <a:xfrm>
            <a:off x="1831915" y="1244634"/>
            <a:ext cx="7958545" cy="224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What is the number of calls received in a minute at a call center?</a:t>
            </a:r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How many mRNA will be created in half an hour from an active gene?</a:t>
            </a:r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How many photons will reach a fluorescence sensor in a 50 milliseconds?</a:t>
            </a:r>
          </a:p>
        </p:txBody>
      </p:sp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CFDA6EE4-3C25-715D-F366-8D481BE67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B8ADE632-4FD8-1F79-2938-423C8941A4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5" t="33289" r="27813" b="43590"/>
          <a:stretch/>
        </p:blipFill>
        <p:spPr>
          <a:xfrm>
            <a:off x="469120" y="3551334"/>
            <a:ext cx="11253760" cy="273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13781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167" name="It is often interesting to deal with the summation of many observations.…"/>
          <p:cNvSpPr txBox="1"/>
          <p:nvPr/>
        </p:nvSpPr>
        <p:spPr>
          <a:xfrm>
            <a:off x="209508" y="1244634"/>
            <a:ext cx="11772984" cy="992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defTabSz="457200">
              <a:spcBef>
                <a:spcPts val="1500"/>
              </a:spcBef>
              <a:buSzPct val="100000"/>
              <a:buFont typeface="Arial" panose="020B0604020202020204" pitchFamily="34" charset="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u="sng" dirty="0"/>
              <a:t>Geometric</a:t>
            </a:r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168" name="Central Limit Theorem"/>
          <p:cNvSpPr txBox="1"/>
          <p:nvPr/>
        </p:nvSpPr>
        <p:spPr>
          <a:xfrm>
            <a:off x="151502" y="615316"/>
            <a:ext cx="4822793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dirty="0"/>
              <a:t>Basic Discrete Distributions</a:t>
            </a:r>
            <a:endParaRPr dirty="0"/>
          </a:p>
        </p:txBody>
      </p:sp>
      <p:pic>
        <p:nvPicPr>
          <p:cNvPr id="8" name="Graphic 7" descr="Cat with solid fill">
            <a:extLst>
              <a:ext uri="{FF2B5EF4-FFF2-40B4-BE49-F238E27FC236}">
                <a16:creationId xmlns:a16="http://schemas.microsoft.com/office/drawing/2014/main" id="{669374CE-E20F-4128-83AB-80A578AEA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31140" y="1263484"/>
            <a:ext cx="777084" cy="777084"/>
          </a:xfrm>
          <a:prstGeom prst="rect">
            <a:avLst/>
          </a:prstGeom>
        </p:spPr>
      </p:pic>
      <p:pic>
        <p:nvPicPr>
          <p:cNvPr id="10" name="Graphic 9" descr="Cat outline">
            <a:extLst>
              <a:ext uri="{FF2B5EF4-FFF2-40B4-BE49-F238E27FC236}">
                <a16:creationId xmlns:a16="http://schemas.microsoft.com/office/drawing/2014/main" id="{2C5DA3F2-472E-421B-BA8C-5929188C9A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29309" y="1263484"/>
            <a:ext cx="777084" cy="777084"/>
          </a:xfrm>
          <a:prstGeom prst="rect">
            <a:avLst/>
          </a:prstGeom>
        </p:spPr>
      </p:pic>
      <p:pic>
        <p:nvPicPr>
          <p:cNvPr id="17" name="Graphic 16" descr="Cat with solid fill">
            <a:extLst>
              <a:ext uri="{FF2B5EF4-FFF2-40B4-BE49-F238E27FC236}">
                <a16:creationId xmlns:a16="http://schemas.microsoft.com/office/drawing/2014/main" id="{B2865D60-2E2B-4682-B45B-22CDBF11AA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30224" y="1260702"/>
            <a:ext cx="777084" cy="777084"/>
          </a:xfrm>
          <a:prstGeom prst="rect">
            <a:avLst/>
          </a:prstGeom>
        </p:spPr>
      </p:pic>
      <p:sp>
        <p:nvSpPr>
          <p:cNvPr id="18" name="It is often interesting to deal with the summation of many observations.…">
            <a:extLst>
              <a:ext uri="{FF2B5EF4-FFF2-40B4-BE49-F238E27FC236}">
                <a16:creationId xmlns:a16="http://schemas.microsoft.com/office/drawing/2014/main" id="{7CF9F627-7CA2-49B9-9D31-A11AEE53BB3C}"/>
              </a:ext>
            </a:extLst>
          </p:cNvPr>
          <p:cNvSpPr txBox="1"/>
          <p:nvPr/>
        </p:nvSpPr>
        <p:spPr>
          <a:xfrm>
            <a:off x="2116727" y="1240349"/>
            <a:ext cx="7958545" cy="22467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How many times do you need to flip a coin before you get a heads? </a:t>
            </a:r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How many cats before you see white kitty appear?</a:t>
            </a:r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How many tries would it take to to make a 3-point throw from half court.</a:t>
            </a:r>
          </a:p>
        </p:txBody>
      </p:sp>
      <p:pic>
        <p:nvPicPr>
          <p:cNvPr id="13" name="Picture 1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5647232-FBAE-4113-B4EE-C8364C2D792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05" t="45697" r="27813" b="35615"/>
          <a:stretch/>
        </p:blipFill>
        <p:spPr>
          <a:xfrm>
            <a:off x="369826" y="3552570"/>
            <a:ext cx="11612666" cy="2278252"/>
          </a:xfrm>
          <a:prstGeom prst="rect">
            <a:avLst/>
          </a:prstGeom>
        </p:spPr>
      </p:pic>
      <p:sp>
        <p:nvSpPr>
          <p:cNvPr id="14" name="Flowchart: Sequential Access Storage 13">
            <a:extLst>
              <a:ext uri="{FF2B5EF4-FFF2-40B4-BE49-F238E27FC236}">
                <a16:creationId xmlns:a16="http://schemas.microsoft.com/office/drawing/2014/main" id="{F955BC7E-55BD-4D8B-A836-07C201C14E32}"/>
              </a:ext>
            </a:extLst>
          </p:cNvPr>
          <p:cNvSpPr/>
          <p:nvPr/>
        </p:nvSpPr>
        <p:spPr>
          <a:xfrm>
            <a:off x="9346654" y="898492"/>
            <a:ext cx="761570" cy="346231"/>
          </a:xfrm>
          <a:prstGeom prst="flowChartMagneticTape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Meow</a:t>
            </a:r>
          </a:p>
        </p:txBody>
      </p:sp>
      <p:sp>
        <p:nvSpPr>
          <p:cNvPr id="22" name="Flowchart: Sequential Access Storage 21">
            <a:extLst>
              <a:ext uri="{FF2B5EF4-FFF2-40B4-BE49-F238E27FC236}">
                <a16:creationId xmlns:a16="http://schemas.microsoft.com/office/drawing/2014/main" id="{2B9C42D3-7EBF-492E-9908-3FF9881A9EF2}"/>
              </a:ext>
            </a:extLst>
          </p:cNvPr>
          <p:cNvSpPr/>
          <p:nvPr/>
        </p:nvSpPr>
        <p:spPr>
          <a:xfrm>
            <a:off x="10337039" y="922927"/>
            <a:ext cx="761570" cy="346231"/>
          </a:xfrm>
          <a:prstGeom prst="flowChartMagneticTape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Meow</a:t>
            </a:r>
          </a:p>
        </p:txBody>
      </p:sp>
      <p:sp>
        <p:nvSpPr>
          <p:cNvPr id="23" name="Flowchart: Sequential Access Storage 22">
            <a:extLst>
              <a:ext uri="{FF2B5EF4-FFF2-40B4-BE49-F238E27FC236}">
                <a16:creationId xmlns:a16="http://schemas.microsoft.com/office/drawing/2014/main" id="{DD156164-EE0A-47FB-9DEB-834EA05B7981}"/>
              </a:ext>
            </a:extLst>
          </p:cNvPr>
          <p:cNvSpPr/>
          <p:nvPr/>
        </p:nvSpPr>
        <p:spPr>
          <a:xfrm>
            <a:off x="11353709" y="922927"/>
            <a:ext cx="761570" cy="346231"/>
          </a:xfrm>
          <a:prstGeom prst="flowChartMagneticTape">
            <a:avLst/>
          </a:prstGeom>
          <a:solidFill>
            <a:srgbClr val="FFFFFF"/>
          </a:solidFill>
          <a:ln w="12700" cap="flat">
            <a:solidFill>
              <a:schemeClr val="tx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Meow!!</a:t>
            </a:r>
          </a:p>
        </p:txBody>
      </p:sp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E0076B2B-8D93-59F9-4887-60A487DB04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3230495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167" name="It is often interesting to deal with the summation of many observations.…"/>
          <p:cNvSpPr txBox="1"/>
          <p:nvPr/>
        </p:nvSpPr>
        <p:spPr>
          <a:xfrm>
            <a:off x="209508" y="1244634"/>
            <a:ext cx="11772984" cy="4816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u="sng" dirty="0"/>
              <a:t>Uniform:</a:t>
            </a:r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168" name="Central Limit Theorem"/>
          <p:cNvSpPr txBox="1"/>
          <p:nvPr/>
        </p:nvSpPr>
        <p:spPr>
          <a:xfrm>
            <a:off x="151502" y="615316"/>
            <a:ext cx="5399874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dirty="0"/>
              <a:t>Basic Continuous Distributions</a:t>
            </a:r>
            <a:endParaRPr dirty="0"/>
          </a:p>
        </p:txBody>
      </p:sp>
      <p:sp>
        <p:nvSpPr>
          <p:cNvPr id="14" name="It is often interesting to deal with the summation of many observations.…">
            <a:extLst>
              <a:ext uri="{FF2B5EF4-FFF2-40B4-BE49-F238E27FC236}">
                <a16:creationId xmlns:a16="http://schemas.microsoft.com/office/drawing/2014/main" id="{312CCC7B-4121-4BB1-8F52-7A306ABD06FB}"/>
              </a:ext>
            </a:extLst>
          </p:cNvPr>
          <p:cNvSpPr txBox="1"/>
          <p:nvPr/>
        </p:nvSpPr>
        <p:spPr>
          <a:xfrm>
            <a:off x="1886389" y="1244634"/>
            <a:ext cx="7958545" cy="446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The probability is the same across interval [a, b]</a:t>
            </a:r>
            <a:endParaRPr dirty="0"/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E56203D-3D58-4242-9A92-1F8252CA7A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09" t="40641" r="27884" b="43333"/>
          <a:stretch/>
        </p:blipFill>
        <p:spPr>
          <a:xfrm>
            <a:off x="495390" y="2119934"/>
            <a:ext cx="11584611" cy="1926491"/>
          </a:xfrm>
          <a:prstGeom prst="rect">
            <a:avLst/>
          </a:prstGeom>
        </p:spPr>
      </p:pic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1913CF4-A7CD-4BF4-8C04-13386D6D58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32" t="34744" r="55577" b="37165"/>
          <a:stretch/>
        </p:blipFill>
        <p:spPr>
          <a:xfrm>
            <a:off x="7701079" y="3892151"/>
            <a:ext cx="3995531" cy="2937802"/>
          </a:xfrm>
          <a:prstGeom prst="rect">
            <a:avLst/>
          </a:prstGeom>
        </p:spPr>
      </p:pic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1F7DC0A2-9F4A-30E6-CD96-A65F66AEE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0664083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167" name="It is often interesting to deal with the summation of many observations.…"/>
          <p:cNvSpPr txBox="1"/>
          <p:nvPr/>
        </p:nvSpPr>
        <p:spPr>
          <a:xfrm>
            <a:off x="209508" y="1244634"/>
            <a:ext cx="11772984" cy="31777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defTabSz="457200">
              <a:spcBef>
                <a:spcPts val="1500"/>
              </a:spcBef>
              <a:buSzPct val="100000"/>
              <a:buFont typeface="Arial" panose="020B0604020202020204" pitchFamily="34" charset="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u="sng" dirty="0"/>
              <a:t>Gaussian</a:t>
            </a:r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168" name="Central Limit Theorem"/>
          <p:cNvSpPr txBox="1"/>
          <p:nvPr/>
        </p:nvSpPr>
        <p:spPr>
          <a:xfrm>
            <a:off x="151502" y="615316"/>
            <a:ext cx="5399874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dirty="0"/>
              <a:t>Basic Continuous Distributions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85D415-5F29-479D-AC8A-F83E78BE10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534" t="34872" r="29615" b="52949"/>
          <a:stretch/>
        </p:blipFill>
        <p:spPr>
          <a:xfrm>
            <a:off x="790823" y="1855177"/>
            <a:ext cx="11018465" cy="1393476"/>
          </a:xfrm>
          <a:prstGeom prst="rect">
            <a:avLst/>
          </a:prstGeom>
        </p:spPr>
      </p:pic>
      <p:pic>
        <p:nvPicPr>
          <p:cNvPr id="17" name="Picture 1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5F5C384-D558-4CE7-B9ED-B288BD48DD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35" t="21282" r="15986" b="40897"/>
          <a:stretch/>
        </p:blipFill>
        <p:spPr>
          <a:xfrm>
            <a:off x="4504355" y="3401988"/>
            <a:ext cx="3922905" cy="3354370"/>
          </a:xfrm>
          <a:prstGeom prst="rect">
            <a:avLst/>
          </a:prstGeom>
        </p:spPr>
      </p:pic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87D9921B-5AD6-49BB-94B1-8E9FB028E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7150957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5"/>
          <p:cNvSpPr/>
          <p:nvPr/>
        </p:nvSpPr>
        <p:spPr>
          <a:xfrm>
            <a:off x="0" y="-1"/>
            <a:ext cx="9839739" cy="433952"/>
          </a:xfrm>
          <a:prstGeom prst="rect">
            <a:avLst/>
          </a:prstGeom>
          <a:solidFill>
            <a:srgbClr val="0D5427">
              <a:alpha val="97647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Rectangle 7"/>
          <p:cNvSpPr txBox="1"/>
          <p:nvPr/>
        </p:nvSpPr>
        <p:spPr>
          <a:xfrm>
            <a:off x="2183439" y="28047"/>
            <a:ext cx="736444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defRPr>
            </a:lvl1pPr>
          </a:lstStyle>
          <a:p>
            <a:r>
              <a:rPr lang="en-US" dirty="0"/>
              <a:t>Module 2A – Distributions, Sampling, and Expectations</a:t>
            </a:r>
            <a:endParaRPr dirty="0"/>
          </a:p>
        </p:txBody>
      </p:sp>
      <p:sp>
        <p:nvSpPr>
          <p:cNvPr id="167" name="It is often interesting to deal with the summation of many observations.…"/>
          <p:cNvSpPr txBox="1"/>
          <p:nvPr/>
        </p:nvSpPr>
        <p:spPr>
          <a:xfrm>
            <a:off x="209508" y="1244634"/>
            <a:ext cx="11772984" cy="2631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marL="342900" indent="-342900" defTabSz="457200">
              <a:spcBef>
                <a:spcPts val="1500"/>
              </a:spcBef>
              <a:buSzPct val="100000"/>
              <a:buFont typeface="Arial" panose="020B0604020202020204" pitchFamily="34" charset="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u="sng" dirty="0"/>
              <a:t>Exponential:</a:t>
            </a:r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marL="230605" indent="-230605" defTabSz="457200">
              <a:spcBef>
                <a:spcPts val="1500"/>
              </a:spcBef>
              <a:buSzPct val="100000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 dirty="0"/>
          </a:p>
        </p:txBody>
      </p:sp>
      <p:sp>
        <p:nvSpPr>
          <p:cNvPr id="168" name="Central Limit Theorem"/>
          <p:cNvSpPr txBox="1"/>
          <p:nvPr/>
        </p:nvSpPr>
        <p:spPr>
          <a:xfrm>
            <a:off x="151502" y="615316"/>
            <a:ext cx="5399874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spcBef>
                <a:spcPts val="600"/>
              </a:spcBef>
              <a:defRPr sz="3100" b="1" u="sng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dirty="0"/>
              <a:t>Basic Continuous Distributions</a:t>
            </a:r>
            <a:endParaRPr dirty="0"/>
          </a:p>
        </p:txBody>
      </p:sp>
      <p:pic>
        <p:nvPicPr>
          <p:cNvPr id="10" name="Picture 9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917F57BF-26F9-45C5-9384-444347654A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22" t="30000" r="27236" b="46410"/>
          <a:stretch/>
        </p:blipFill>
        <p:spPr>
          <a:xfrm>
            <a:off x="428452" y="1707644"/>
            <a:ext cx="11335096" cy="3465678"/>
          </a:xfrm>
          <a:prstGeom prst="rect">
            <a:avLst/>
          </a:prstGeom>
        </p:spPr>
      </p:pic>
      <p:pic>
        <p:nvPicPr>
          <p:cNvPr id="2" name="Picture 6" descr="Picture 6">
            <a:extLst>
              <a:ext uri="{FF2B5EF4-FFF2-40B4-BE49-F238E27FC236}">
                <a16:creationId xmlns:a16="http://schemas.microsoft.com/office/drawing/2014/main" id="{D77A3058-A70F-F729-D5CD-CC7BE6BE3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7870" y="8366"/>
            <a:ext cx="2116837" cy="43395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It is often interesting to deal with the summation of many observations.…">
            <a:extLst>
              <a:ext uri="{FF2B5EF4-FFF2-40B4-BE49-F238E27FC236}">
                <a16:creationId xmlns:a16="http://schemas.microsoft.com/office/drawing/2014/main" id="{86B68D07-1100-4CF9-08D8-CA095E10AFC2}"/>
              </a:ext>
            </a:extLst>
          </p:cNvPr>
          <p:cNvSpPr txBox="1"/>
          <p:nvPr/>
        </p:nvSpPr>
        <p:spPr>
          <a:xfrm>
            <a:off x="2307009" y="1253001"/>
            <a:ext cx="7958545" cy="446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pPr defTabSz="457200">
              <a:spcBef>
                <a:spcPts val="1500"/>
              </a:spcBef>
              <a:buSzPct val="100000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 dirty="0"/>
              <a:t>What is the time until a gene will turn on at random?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40598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rgbClr val="FFFFFF"/>
        </a:solidFill>
        <a:solidFill>
          <a:srgbClr val="FFFFFF"/>
        </a:solidFill>
        <a:solidFill>
          <a:srgbClr val="FFFFFF"/>
        </a:solidFill>
      </a:fillStyleLst>
      <a:lnStyleLst>
        <a:ln>
          <a:solidFill>
            <a:srgbClr val="000000"/>
          </a:solidFill>
        </a:ln>
        <a:ln>
          <a:solidFill>
            <a:srgbClr val="000000"/>
          </a:solidFill>
        </a:ln>
        <a:ln>
          <a:solidFill>
            <a:srgbClr val="000000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FFFFFF"/>
        </a:solidFill>
        <a:solidFill>
          <a:srgbClr val="FFFFFF"/>
        </a:soli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rgbClr val="FFFFFF"/>
        </a:solidFill>
        <a:solidFill>
          <a:srgbClr val="FFFFFF"/>
        </a:solidFill>
        <a:solidFill>
          <a:srgbClr val="FFFFFF"/>
        </a:solidFill>
      </a:fillStyleLst>
      <a:lnStyleLst>
        <a:ln>
          <a:solidFill>
            <a:srgbClr val="000000"/>
          </a:solidFill>
        </a:ln>
        <a:ln>
          <a:solidFill>
            <a:srgbClr val="000000"/>
          </a:solidFill>
        </a:ln>
        <a:ln>
          <a:solidFill>
            <a:srgbClr val="000000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FFFFFF"/>
        </a:solidFill>
        <a:solidFill>
          <a:srgbClr val="FFFFFF"/>
        </a:soli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3383</TotalTime>
  <Words>1556</Words>
  <Application>Microsoft Macintosh PowerPoint</Application>
  <PresentationFormat>Widescreen</PresentationFormat>
  <Paragraphs>165</Paragraphs>
  <Slides>18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Munsky,Brian</cp:lastModifiedBy>
  <cp:revision>56</cp:revision>
  <dcterms:modified xsi:type="dcterms:W3CDTF">2026-01-09T16:27:19Z</dcterms:modified>
</cp:coreProperties>
</file>